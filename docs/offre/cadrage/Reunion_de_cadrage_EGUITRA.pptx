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3d26929d-9e95-b500-9df2-00e99b48ee07}">
          <p14:sldIdLst>
            <p14:sldId id="256"/>
            <p14:sldId id="257"/>
            <p14:sldId id="258"/>
          </p14:sldIdLst>
        </p14:section>
        <p14:section name="Le projet" id="{0871fc15-348f-3bcc-4ab3-852963ec8b58}">
          <p14:sldIdLst>
            <p14:sldId id="259"/>
            <p14:sldId id="260"/>
            <p14:sldId id="261"/>
            <p14:sldId id="262"/>
          </p14:sldIdLst>
        </p14:section>
        <p14:section name="Ateliers" id="{8916fd0f-db69-6e7c-5ebf-7eac4defccce}">
          <p14:sldIdLst>
            <p14:sldId id="263"/>
            <p14:sldId id="264"/>
            <p14:sldId id="265"/>
            <p14:sldId id="266"/>
          </p14:sldIdLst>
        </p14:section>
        <p14:section name="Décisions" id="{4ee3f2f9-1a1f-f67f-6758-6dc4fd706119}">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 Se présenter, présenter l'équipe, remercier pour l'accord de principe. Rappeler que la réunion dure deux heures et que l'on sort avec des décisions, pas avec des idées. Les ateliers métiers se tiennent dans la semaine, trente minutes chacun.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Cadrer les attentes dès la première minute. Si quelqu'un veut parler de prix ou de délai, renvoyer au contrat signé.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Tenir l'horaire. Un atelier qui déborde se termine par une liste de questions ouvertes à traiter dans la semaine, pas par un dépassement.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prononcer le nom du noyau devant les utilisateurs finaux si la direction préfère ; le contrat le nomme, les utilisateurs ne le verront jamais.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ce qui est listé ici est dans le prix. Tout ce qui n'y est pas se note dans la liste des demandes et se traite après la mise en production, dans la maintenance évolutive ou sur devis.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 le délai tient si les référents sont disponibles et si les éléments arrivent cette semaine. Tout retard côté client décale la date du même nombre de jours, constaté en comité.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nommer les référents séance tenante et noter l'heure du point quotidien. Sans cela, la semaine 2 démarre à 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responsable financier parle, vous notez. Objectif : repartir avec le plan de comptes et les modèles d'états en main, ou une date de remise dans la semaine.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trois ateliers ne se tiennent pas aujourd'hui : trente minutes chacun avec le référent concerné, mercredi 14 ou jeudi 15, sur place ou à distance. Aujourd'hui on fixe les créneaux et on demande les listes.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prototype du DGA est la référence. Demander qui maintiendra la grille après la mise en production : c'est une donnée, pas du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Vérifier concrètement les formats de relevés que les banques fournissent : c'est ce qui conditionne l'import automatique.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les huit points à voix haute et obtenir un oui ou une date pour chacun. C'est la sortie de la réunion.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ligne a un nom. Une ligne sans nom à la fin de la réunion est un retard qui vous sera opposable plus tard : la faire attribuer.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Remercier. Rappeler la date de signature du dossier de conception : c'est le jalon de la semaine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C1E6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0584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548640" y="2880360"/>
            <a:ext cx="8046720" cy="1508760"/>
          </a:xfrm>
          <a:prstGeom prst="rect">
            <a:avLst/>
          </a:prstGeom>
          <a:noFill/>
          <a:ln/>
        </p:spPr>
        <p:txBody>
          <a:bodyPr wrap="square" rtlCol="0"/>
          <a:lstStyle>
            <a:lvl1pPr indent="0" marL="0">
              <a:buNone/>
              <a:defRPr lang="en-US" sz="1800" dirty="0">
                <a:solidFill>
                  <a:schemeClr val="accent4"/>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rtlCol="0"/>
          <a:lstStyle>
            <a:lvl1pPr indent="0" marL="0">
              <a:buNone/>
              <a:defRPr lang="en-US" sz="2800" b="1" dirty="0">
                <a:solidFill>
                  <a:schemeClr val="tx1"/>
                </a:solidFill>
              </a:defRPr>
            </a:lvl1pPr>
          </a:lstStyle>
          <a:p>
            <a:pPr indent="0" marL="0">
              <a:buNone/>
            </a:pPr>
            <a:endParaRPr lang="en-US" sz="2800" dirty="0"/>
          </a:p>
        </p:txBody>
      </p:sp>
      <p:pic>
        <p:nvPicPr>
          <p:cNvPr id="3" name="Image 0" descr="/home/user/EGUITRA/docs/offre/logo-rendu.png">    </p:cNvPr>
          <p:cNvPicPr>
            <a:picLocks noChangeAspect="1"/>
          </p:cNvPicPr>
          <p:nvPr/>
        </p:nvPicPr>
        <p:blipFill>
          <a:blip r:embed="rId1"/>
          <a:stretch>
            <a:fillRect/>
          </a:stretch>
        </p:blipFill>
        <p:spPr>
          <a:xfrm>
            <a:off x="8138160" y="4663440"/>
            <a:ext cx="548640" cy="320040"/>
          </a:xfrm>
          <a:prstGeom prst="rect">
            <a:avLst/>
          </a:prstGeom>
        </p:spPr>
      </p:pic>
      <p:sp>
        <p:nvSpPr>
          <p:cNvPr id="4" name="Text 0"/>
          <p:cNvSpPr/>
          <p:nvPr/>
        </p:nvSpPr>
        <p:spPr>
          <a:xfrm>
            <a:off x="457200" y="4709160"/>
            <a:ext cx="5486400" cy="274320"/>
          </a:xfrm>
          <a:prstGeom prst="rect">
            <a:avLst/>
          </a:prstGeom>
          <a:noFill/>
          <a:ln/>
        </p:spPr>
        <p:txBody>
          <a:bodyPr wrap="square" lIns="0" tIns="0" rIns="0" bIns="0" rtlCol="0" anchor="ctr"/>
          <a:lstStyle/>
          <a:p>
            <a:pPr indent="0" marL="0">
              <a:buNone/>
            </a:pPr>
            <a:r>
              <a:rPr lang="en-US" sz="900" dirty="0">
                <a:solidFill>
                  <a:schemeClr val="accent4"/>
                </a:solidFill>
              </a:rPr>
              <a:t>Réunion de cadrage, EGUITRA GROUP et MB AxisPro Consulting</a:t>
            </a:r>
            <a:endParaRPr lang="en-US" sz="900" dirty="0"/>
          </a:p>
        </p:txBody>
      </p:sp>
      <p:sp>
        <p:nvSpPr>
          <p:cNvPr id="25" name="Slide Number Placeholder 0"/>
          <p:cNvSpPr>
            <a:spLocks noGrp="1"/>
          </p:cNvSpPr>
          <p:nvPr>
            <p:ph type="sldNum" sz="quarter" idx="4294967295"/>
          </p:nvPr>
        </p:nvSpPr>
        <p:spPr>
          <a:xfrm>
            <a:off x="758952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58952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user/EGUITRA/docs/offre/logo-rendu.png">    </p:cNvPr>
          <p:cNvPicPr>
            <a:picLocks noChangeAspect="1"/>
          </p:cNvPicPr>
          <p:nvPr/>
        </p:nvPicPr>
        <p:blipFill>
          <a:blip r:embed="rId1"/>
          <a:stretch>
            <a:fillRect/>
          </a:stretch>
        </p:blipFill>
        <p:spPr>
          <a:xfrm>
            <a:off x="548640" y="457200"/>
            <a:ext cx="1554480" cy="914400"/>
          </a:xfrm>
          <a:prstGeom prst="rect">
            <a:avLst/>
          </a:prstGeom>
        </p:spPr>
      </p:pic>
      <p:sp>
        <p:nvSpPr>
          <p:cNvPr id="3" name="Text 0"/>
          <p:cNvSpPr/>
          <p:nvPr>
            <p:ph idx="100" type="title" hasCustomPrompt="1"/>
          </p:nvPr>
        </p:nvSpPr>
        <p:spPr>
          <a:xfrm>
            <a:off x="548640" y="1828800"/>
            <a:ext cx="8046720" cy="1005840"/>
          </a:xfrm>
          <a:prstGeom prst="rect">
            <a:avLst/>
          </a:prstGeom>
          <a:noFill/>
          <a:ln/>
        </p:spPr>
        <p:txBody>
          <a:bodyPr wrap="square" lIns="0" tIns="0" rIns="0" bIns="0" rtlCol="0"/>
          <a:lstStyle/>
          <a:p>
            <a:pPr indent="0" marL="0">
              <a:buNone/>
            </a:pPr>
            <a:r>
              <a:rPr lang="en-US" sz="4000" b="1" dirty="0">
                <a:solidFill>
                  <a:schemeClr val="bg1"/>
                </a:solidFill>
              </a:rPr>
              <a:t>Réunion de cadrage</a:t>
            </a:r>
            <a:endParaRPr lang="en-US" sz="4000" dirty="0"/>
          </a:p>
        </p:txBody>
      </p:sp>
      <p:sp>
        <p:nvSpPr>
          <p:cNvPr id="4" name="Text 0"/>
          <p:cNvSpPr/>
          <p:nvPr>
            <p:ph idx="101" type="body" hasCustomPrompt="1"/>
          </p:nvPr>
        </p:nvSpPr>
        <p:spPr>
          <a:xfrm>
            <a:off x="548640" y="2880360"/>
            <a:ext cx="8046720" cy="1508760"/>
          </a:xfrm>
          <a:prstGeom prst="rect">
            <a:avLst/>
          </a:prstGeom>
          <a:noFill/>
          <a:ln/>
        </p:spPr>
        <p:txBody>
          <a:bodyPr wrap="square" lIns="0" tIns="0" rIns="0" bIns="0" rtlCol="0"/>
          <a:lstStyle/>
          <a:p>
            <a:pPr indent="0" marL="0">
              <a:buNone/>
            </a:pPr>
            <a:r>
              <a:rPr lang="en-US" sz="1800" dirty="0">
                <a:solidFill>
                  <a:schemeClr val="accent4"/>
                </a:solidFill>
              </a:rPr>
              <a:t>EGUITRA Finance et AxisPro Suite</a:t>
            </a:r>
            <a:endParaRPr lang="en-US" sz="1800" dirty="0"/>
          </a:p>
          <a:p>
            <a:pPr indent="0" marL="0">
              <a:buNone/>
            </a:pPr>
            <a:r>
              <a:rPr lang="en-US" sz="1800" dirty="0">
                <a:solidFill>
                  <a:schemeClr val="accent4"/>
                </a:solidFill>
              </a:rPr>
              <a:t>Mardi 13 octobre 2026, de 10 h à 12 h, locaux d'EGUITRA GROUP</a:t>
            </a:r>
            <a:endParaRPr lang="en-US" sz="1800" dirty="0"/>
          </a:p>
        </p:txBody>
      </p:sp>
      <p:sp>
        <p:nvSpPr>
          <p:cNvPr id="5" name="Text 2"/>
          <p:cNvSpPr txBox="1"/>
          <p:nvPr/>
        </p:nvSpPr>
        <p:spPr>
          <a:xfrm>
            <a:off x="548640" y="4480560"/>
            <a:ext cx="5486400" cy="274320"/>
          </a:xfrm>
          <a:prstGeom prst="rect">
            <a:avLst/>
          </a:prstGeom>
          <a:noFill/>
          <a:ln/>
        </p:spPr>
        <p:txBody>
          <a:bodyPr wrap="square" lIns="0" tIns="0" rIns="0" bIns="0" rtlCol="0" anchor="ctr"/>
          <a:lstStyle/>
          <a:p>
            <a:pPr indent="0" marL="0">
              <a:buNone/>
            </a:pPr>
            <a:r>
              <a:rPr lang="en-US" sz="1100" dirty="0">
                <a:solidFill>
                  <a:schemeClr val="accent1"/>
                </a:solidFill>
              </a:rPr>
              <a:t>E-VOLUTION XP, Transformation Numérique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indent="0" marL="0">
              <a:buNone/>
            </a:pPr>
            <a:r>
              <a:rPr lang="en-US" sz="2800" b="1" dirty="0">
                <a:solidFill>
                  <a:schemeClr val="tx1"/>
                </a:solidFill>
              </a:rPr>
              <a:t>Ce que nous devons avoir décidé à midi</a:t>
            </a:r>
            <a:endParaRPr lang="en-US" sz="2800" dirty="0"/>
          </a:p>
        </p:txBody>
      </p:sp>
      <p:sp>
        <p:nvSpPr>
          <p:cNvPr id="3" name="card Le périmètre"/>
          <p:cNvSpPr/>
          <p:nvPr/>
        </p:nvSpPr>
        <p:spPr>
          <a:xfrm>
            <a:off x="457200" y="1188720"/>
            <a:ext cx="2651760" cy="2377440"/>
          </a:xfrm>
          <a:prstGeom prst="roundRect">
            <a:avLst>
              <a:gd name="adj" fmla="val 3077"/>
            </a:avLst>
          </a:prstGeom>
          <a:solidFill>
            <a:schemeClr val="bg2"/>
          </a:solidFill>
          <a:ln w="12700">
            <a:solidFill>
              <a:schemeClr val="bg2"/>
            </a:solidFill>
            <a:prstDash val="solid"/>
          </a:ln>
        </p:spPr>
      </p:sp>
      <p:sp>
        <p:nvSpPr>
          <p:cNvPr id="4" name="Shape 2"/>
          <p:cNvSpPr/>
          <p:nvPr/>
        </p:nvSpPr>
        <p:spPr>
          <a:xfrm>
            <a:off x="640080" y="1371600"/>
            <a:ext cx="457200" cy="45720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754380" y="1485900"/>
            <a:ext cx="228600" cy="228600"/>
          </a:xfrm>
          <a:prstGeom prst="rect">
            <a:avLst/>
          </a:prstGeom>
        </p:spPr>
      </p:pic>
      <p:sp>
        <p:nvSpPr>
          <p:cNvPr id="6" name="Text 3"/>
          <p:cNvSpPr txBox="1"/>
          <p:nvPr/>
        </p:nvSpPr>
        <p:spPr>
          <a:xfrm>
            <a:off x="1234440" y="1353312"/>
            <a:ext cx="1691640" cy="502920"/>
          </a:xfrm>
          <a:prstGeom prst="rect">
            <a:avLst/>
          </a:prstGeom>
          <a:noFill/>
          <a:ln/>
        </p:spPr>
        <p:txBody>
          <a:bodyPr wrap="square" lIns="0" tIns="0" rIns="0" bIns="0" rtlCol="0" anchor="ctr"/>
          <a:lstStyle/>
          <a:p>
            <a:pPr indent="0" marL="0">
              <a:buNone/>
            </a:pPr>
            <a:r>
              <a:rPr lang="en-US" sz="1500" b="1" dirty="0">
                <a:solidFill>
                  <a:schemeClr val="tx1"/>
                </a:solidFill>
              </a:rPr>
              <a:t>Le périmètre</a:t>
            </a:r>
            <a:endParaRPr lang="en-US" sz="1500" dirty="0"/>
          </a:p>
        </p:txBody>
      </p:sp>
      <p:sp>
        <p:nvSpPr>
          <p:cNvPr id="7" name="Text 4"/>
          <p:cNvSpPr txBox="1"/>
          <p:nvPr/>
        </p:nvSpPr>
        <p:spPr>
          <a:xfrm>
            <a:off x="640080" y="1965960"/>
            <a:ext cx="2286000" cy="1463040"/>
          </a:xfrm>
          <a:prstGeom prst="rect">
            <a:avLst/>
          </a:prstGeom>
          <a:noFill/>
          <a:ln/>
        </p:spPr>
        <p:txBody>
          <a:bodyPr wrap="square" lIns="0" tIns="0" rIns="0" bIns="0" rtlCol="0" anchor="t"/>
          <a:lstStyle/>
          <a:p>
            <a:pPr indent="0" marL="0">
              <a:buNone/>
            </a:pPr>
            <a:r>
              <a:rPr lang="en-US" sz="1250" dirty="0">
                <a:solidFill>
                  <a:schemeClr val="tx2"/>
                </a:solidFill>
              </a:rPr>
              <a:t>Les règles de gestion de chaque module, les écrans prioritaires, ce qui entre dans la version du 6 novembre et ce qui attend.</a:t>
            </a:r>
            <a:endParaRPr lang="en-US" sz="1250" dirty="0"/>
          </a:p>
        </p:txBody>
      </p:sp>
      <p:sp>
        <p:nvSpPr>
          <p:cNvPr id="8" name="card Les personnes"/>
          <p:cNvSpPr/>
          <p:nvPr/>
        </p:nvSpPr>
        <p:spPr>
          <a:xfrm>
            <a:off x="3246120" y="1188720"/>
            <a:ext cx="2651760" cy="2377440"/>
          </a:xfrm>
          <a:prstGeom prst="roundRect">
            <a:avLst>
              <a:gd name="adj" fmla="val 3077"/>
            </a:avLst>
          </a:prstGeom>
          <a:solidFill>
            <a:schemeClr val="bg2"/>
          </a:solidFill>
          <a:ln w="12700">
            <a:solidFill>
              <a:schemeClr val="bg2"/>
            </a:solidFill>
            <a:prstDash val="solid"/>
          </a:ln>
        </p:spPr>
      </p:sp>
      <p:sp>
        <p:nvSpPr>
          <p:cNvPr id="9" name="Shape 6"/>
          <p:cNvSpPr/>
          <p:nvPr/>
        </p:nvSpPr>
        <p:spPr>
          <a:xfrm>
            <a:off x="3429000" y="1371600"/>
            <a:ext cx="457200" cy="45720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3543300" y="1485900"/>
            <a:ext cx="228600" cy="228600"/>
          </a:xfrm>
          <a:prstGeom prst="rect">
            <a:avLst/>
          </a:prstGeom>
        </p:spPr>
      </p:pic>
      <p:sp>
        <p:nvSpPr>
          <p:cNvPr id="11" name="Text 7"/>
          <p:cNvSpPr txBox="1"/>
          <p:nvPr/>
        </p:nvSpPr>
        <p:spPr>
          <a:xfrm>
            <a:off x="4023360" y="1353312"/>
            <a:ext cx="1691640" cy="502920"/>
          </a:xfrm>
          <a:prstGeom prst="rect">
            <a:avLst/>
          </a:prstGeom>
          <a:noFill/>
          <a:ln/>
        </p:spPr>
        <p:txBody>
          <a:bodyPr wrap="square" lIns="0" tIns="0" rIns="0" bIns="0" rtlCol="0" anchor="ctr"/>
          <a:lstStyle/>
          <a:p>
            <a:pPr indent="0" marL="0">
              <a:buNone/>
            </a:pPr>
            <a:r>
              <a:rPr lang="en-US" sz="1500" b="1" dirty="0">
                <a:solidFill>
                  <a:schemeClr val="tx1"/>
                </a:solidFill>
              </a:rPr>
              <a:t>Les personnes</a:t>
            </a:r>
            <a:endParaRPr lang="en-US" sz="1500" dirty="0"/>
          </a:p>
        </p:txBody>
      </p:sp>
      <p:sp>
        <p:nvSpPr>
          <p:cNvPr id="12" name="Text 8"/>
          <p:cNvSpPr txBox="1"/>
          <p:nvPr/>
        </p:nvSpPr>
        <p:spPr>
          <a:xfrm>
            <a:off x="3429000" y="1965960"/>
            <a:ext cx="2286000" cy="1463040"/>
          </a:xfrm>
          <a:prstGeom prst="rect">
            <a:avLst/>
          </a:prstGeom>
          <a:noFill/>
          <a:ln/>
        </p:spPr>
        <p:txBody>
          <a:bodyPr wrap="square" lIns="0" tIns="0" rIns="0" bIns="0" rtlCol="0" anchor="t"/>
          <a:lstStyle/>
          <a:p>
            <a:pPr indent="0" marL="0">
              <a:buNone/>
            </a:pPr>
            <a:r>
              <a:rPr lang="en-US" sz="1250" dirty="0">
                <a:solidFill>
                  <a:schemeClr val="tx2"/>
                </a:solidFill>
              </a:rPr>
              <a:t>Un référent par domaine, disponible une demi-journée par jour, et l'heure du point quotidien.</a:t>
            </a:r>
            <a:endParaRPr lang="en-US" sz="1250" dirty="0"/>
          </a:p>
        </p:txBody>
      </p:sp>
      <p:sp>
        <p:nvSpPr>
          <p:cNvPr id="13" name="card Les éléments"/>
          <p:cNvSpPr/>
          <p:nvPr/>
        </p:nvSpPr>
        <p:spPr>
          <a:xfrm>
            <a:off x="6035040" y="1188720"/>
            <a:ext cx="2651760" cy="2377440"/>
          </a:xfrm>
          <a:prstGeom prst="roundRect">
            <a:avLst>
              <a:gd name="adj" fmla="val 3077"/>
            </a:avLst>
          </a:prstGeom>
          <a:solidFill>
            <a:schemeClr val="bg2"/>
          </a:solidFill>
          <a:ln w="12700">
            <a:solidFill>
              <a:schemeClr val="bg2"/>
            </a:solidFill>
            <a:prstDash val="solid"/>
          </a:ln>
        </p:spPr>
      </p:sp>
      <p:sp>
        <p:nvSpPr>
          <p:cNvPr id="14" name="Shape 10"/>
          <p:cNvSpPr/>
          <p:nvPr/>
        </p:nvSpPr>
        <p:spPr>
          <a:xfrm>
            <a:off x="6217920" y="1371600"/>
            <a:ext cx="457200" cy="45720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6332220" y="1485900"/>
            <a:ext cx="228600" cy="228600"/>
          </a:xfrm>
          <a:prstGeom prst="rect">
            <a:avLst/>
          </a:prstGeom>
        </p:spPr>
      </p:pic>
      <p:sp>
        <p:nvSpPr>
          <p:cNvPr id="16" name="Text 11"/>
          <p:cNvSpPr txBox="1"/>
          <p:nvPr/>
        </p:nvSpPr>
        <p:spPr>
          <a:xfrm>
            <a:off x="6812280" y="1353312"/>
            <a:ext cx="1691640" cy="502920"/>
          </a:xfrm>
          <a:prstGeom prst="rect">
            <a:avLst/>
          </a:prstGeom>
          <a:noFill/>
          <a:ln/>
        </p:spPr>
        <p:txBody>
          <a:bodyPr wrap="square" lIns="0" tIns="0" rIns="0" bIns="0" rtlCol="0" anchor="ctr"/>
          <a:lstStyle/>
          <a:p>
            <a:pPr indent="0" marL="0">
              <a:buNone/>
            </a:pPr>
            <a:r>
              <a:rPr lang="en-US" sz="1500" b="1" dirty="0">
                <a:solidFill>
                  <a:schemeClr val="tx1"/>
                </a:solidFill>
              </a:rPr>
              <a:t>Les éléments</a:t>
            </a:r>
            <a:endParaRPr lang="en-US" sz="1500" dirty="0"/>
          </a:p>
        </p:txBody>
      </p:sp>
      <p:sp>
        <p:nvSpPr>
          <p:cNvPr id="17" name="Text 12"/>
          <p:cNvSpPr txBox="1"/>
          <p:nvPr/>
        </p:nvSpPr>
        <p:spPr>
          <a:xfrm>
            <a:off x="6217920" y="1965960"/>
            <a:ext cx="2286000" cy="1463040"/>
          </a:xfrm>
          <a:prstGeom prst="rect">
            <a:avLst/>
          </a:prstGeom>
          <a:noFill/>
          <a:ln/>
        </p:spPr>
        <p:txBody>
          <a:bodyPr wrap="square" lIns="0" tIns="0" rIns="0" bIns="0" rtlCol="0" anchor="t"/>
          <a:lstStyle/>
          <a:p>
            <a:pPr indent="0" marL="0">
              <a:buNone/>
            </a:pPr>
            <a:r>
              <a:rPr lang="en-US" sz="1250" dirty="0">
                <a:solidFill>
                  <a:schemeClr val="tx2"/>
                </a:solidFill>
              </a:rPr>
              <a:t>Fichiers de gestion, plan de comptes, relevés bancaires, charte, grille AxisPro : qui remet quoi, et quand.</a:t>
            </a:r>
            <a:endParaRPr lang="en-US" sz="1250" dirty="0"/>
          </a:p>
        </p:txBody>
      </p:sp>
      <p:sp>
        <p:nvSpPr>
          <p:cNvPr id="18" name="Shape 13"/>
          <p:cNvSpPr/>
          <p:nvPr/>
        </p:nvSpPr>
        <p:spPr>
          <a:xfrm>
            <a:off x="457200" y="3794760"/>
            <a:ext cx="8229600" cy="640080"/>
          </a:xfrm>
          <a:prstGeom prst="roundRect">
            <a:avLst>
              <a:gd name="adj" fmla="val 11429"/>
            </a:avLst>
          </a:prstGeom>
          <a:solidFill>
            <a:srgbClr val="FFFFFF"/>
          </a:solidFill>
          <a:ln w="9525">
            <a:solidFill>
              <a:schemeClr val="accent4"/>
            </a:solidFill>
            <a:prstDash val="solid"/>
          </a:ln>
        </p:spPr>
      </p:sp>
      <p:pic>
        <p:nvPicPr>
          <p:cNvPr id="19" name="Image 3" descr="preencoded.png">    </p:cNvPr>
          <p:cNvPicPr>
            <a:picLocks noChangeAspect="1"/>
          </p:cNvPicPr>
          <p:nvPr/>
        </p:nvPicPr>
        <p:blipFill>
          <a:blip r:embed="rId4"/>
          <a:stretch>
            <a:fillRect/>
          </a:stretch>
        </p:blipFill>
        <p:spPr>
          <a:xfrm>
            <a:off x="640080" y="3959352"/>
            <a:ext cx="310896" cy="310896"/>
          </a:xfrm>
          <a:prstGeom prst="rect">
            <a:avLst/>
          </a:prstGeom>
        </p:spPr>
      </p:pic>
      <p:sp>
        <p:nvSpPr>
          <p:cNvPr id="20" name="Text 14"/>
          <p:cNvSpPr txBox="1"/>
          <p:nvPr/>
        </p:nvSpPr>
        <p:spPr>
          <a:xfrm>
            <a:off x="1097280" y="3794760"/>
            <a:ext cx="7498080" cy="640080"/>
          </a:xfrm>
          <a:prstGeom prst="rect">
            <a:avLst/>
          </a:prstGeom>
          <a:noFill/>
          <a:ln/>
        </p:spPr>
        <p:txBody>
          <a:bodyPr wrap="square" lIns="0" tIns="0" rIns="0" bIns="0" rtlCol="0" anchor="ctr"/>
          <a:lstStyle/>
          <a:p>
            <a:pPr indent="0" marL="0">
              <a:buNone/>
            </a:pPr>
            <a:r>
              <a:rPr lang="en-US" sz="1250" dirty="0">
                <a:solidFill>
                  <a:schemeClr val="tx1"/>
                </a:solidFill>
              </a:rPr>
              <a:t>Ce que nous ne faisons pas aujourd'hui : concevoir des écrans ou discuter du contrat. Le contrat est signé, les écrans se valident en semaine 2 sur la recette.</a:t>
            </a:r>
            <a:endParaRPr lang="en-US" sz="1250" dirty="0"/>
          </a:p>
        </p:txBody>
      </p:sp>
      <p:sp>
        <p:nvSpPr>
          <p:cNvPr id="25" name="Slide Number Placeholder 0"/>
          <p:cNvSpPr>
            <a:spLocks noGrp="1"/>
          </p:cNvSpPr>
          <p:nvPr>
            <p:ph type="sldNum" sz="quarter" idx="4294967295"/>
          </p:nvPr>
        </p:nvSpPr>
        <p:spPr>
          <a:xfrm>
            <a:off x="758952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indent="0" marL="0">
              <a:buNone/>
            </a:pPr>
            <a:r>
              <a:rPr lang="en-US" sz="2800" b="1" dirty="0">
                <a:solidFill>
                  <a:schemeClr val="tx1"/>
                </a:solidFill>
              </a:rPr>
              <a:t>Ordre du jour, deux heures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097280"/>
                <a:gridCol w="5852160"/>
                <a:gridCol w="1280160"/>
              </a:tblGrid>
              <a:tr h="365760">
                <a:tc>
                  <a:txBody>
                    <a:bodyPr/>
                    <a:lstStyle/>
                    <a:p>
                      <a:pPr algn="l" indent="0" marL="0">
                        <a:buNone/>
                      </a:pPr>
                      <a:r>
                        <a:rPr lang="en-US" sz="1300" b="1" dirty="0">
                          <a:solidFill>
                            <a:schemeClr val="accent1"/>
                          </a:solidFill>
                        </a:rPr>
                        <a:t>10 h 00</a:t>
                      </a:r>
                      <a:endParaRPr lang="en-US" sz="13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Ouverture, objectifs, règles du jeu</a:t>
                      </a:r>
                      <a:endParaRPr lang="en-US" sz="13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2"/>
                          </a:solidFill>
                        </a:rPr>
                        <a:t>10 min</a:t>
                      </a:r>
                      <a:endParaRPr lang="en-US" sz="12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r>
              <a:tr h="365760">
                <a:tc>
                  <a:txBody>
                    <a:bodyPr/>
                    <a:lstStyle/>
                    <a:p>
                      <a:pPr algn="l" indent="0" marL="0">
                        <a:buNone/>
                      </a:pPr>
                      <a:r>
                        <a:rPr lang="en-US" sz="1300" b="1" dirty="0">
                          <a:solidFill>
                            <a:schemeClr val="accent1"/>
                          </a:solidFill>
                        </a:rPr>
                        <a:t>10 h 10</a:t>
                      </a:r>
                      <a:endParaRPr lang="en-US" sz="13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La plateforme, le planning, l'organisation</a:t>
                      </a:r>
                      <a:endParaRPr lang="en-US" sz="13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2"/>
                          </a:solidFill>
                        </a:rPr>
                        <a:t>20 min</a:t>
                      </a:r>
                      <a:endParaRPr lang="en-US" sz="12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r>
              <a:tr h="365760">
                <a:tc>
                  <a:txBody>
                    <a:bodyPr/>
                    <a:lstStyle/>
                    <a:p>
                      <a:pPr algn="l" indent="0" marL="0">
                        <a:buNone/>
                      </a:pPr>
                      <a:r>
                        <a:rPr lang="en-US" sz="1300" b="1" dirty="0">
                          <a:solidFill>
                            <a:schemeClr val="accent1"/>
                          </a:solidFill>
                        </a:rPr>
                        <a:t>10 h 30</a:t>
                      </a:r>
                      <a:endParaRPr lang="en-US" sz="13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Finance : plan de comptes, axes, approbations, seuils, clôture, états</a:t>
                      </a:r>
                      <a:endParaRPr lang="en-US" sz="13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2"/>
                          </a:solidFill>
                        </a:rPr>
                        <a:t>35 min</a:t>
                      </a:r>
                      <a:endParaRPr lang="en-US" sz="12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r>
              <a:tr h="365760">
                <a:tc>
                  <a:txBody>
                    <a:bodyPr/>
                    <a:lstStyle/>
                    <a:p>
                      <a:pPr algn="l" indent="0" marL="0">
                        <a:buNone/>
                      </a:pPr>
                      <a:r>
                        <a:rPr lang="en-US" sz="1300" b="1" dirty="0">
                          <a:solidFill>
                            <a:schemeClr val="accent1"/>
                          </a:solidFill>
                        </a:rPr>
                        <a:t>11 h 05</a:t>
                      </a:r>
                      <a:endParaRPr lang="en-US" sz="13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AxisPro Suite : grille, gates, data room, portail</a:t>
                      </a:r>
                      <a:endParaRPr lang="en-US" sz="13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2"/>
                          </a:solidFill>
                        </a:rPr>
                        <a:t>15 min</a:t>
                      </a:r>
                      <a:endParaRPr lang="en-US" sz="12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r>
              <a:tr h="365760">
                <a:tc>
                  <a:txBody>
                    <a:bodyPr/>
                    <a:lstStyle/>
                    <a:p>
                      <a:pPr algn="l" indent="0" marL="0">
                        <a:buNone/>
                      </a:pPr>
                      <a:r>
                        <a:rPr lang="en-US" sz="1300" b="1" dirty="0">
                          <a:solidFill>
                            <a:schemeClr val="accent1"/>
                          </a:solidFill>
                        </a:rPr>
                        <a:t>11 h 20</a:t>
                      </a:r>
                      <a:endParaRPr lang="en-US" sz="13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Technique et charte : domaine, logos, utilisateurs, relevés</a:t>
                      </a:r>
                      <a:endParaRPr lang="en-US" sz="13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2"/>
                          </a:solidFill>
                        </a:rPr>
                        <a:t>15 min</a:t>
                      </a:r>
                      <a:endParaRPr lang="en-US" sz="12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r>
              <a:tr h="365760">
                <a:tc>
                  <a:txBody>
                    <a:bodyPr/>
                    <a:lstStyle/>
                    <a:p>
                      <a:pPr algn="l" indent="0" marL="0">
                        <a:buNone/>
                      </a:pPr>
                      <a:r>
                        <a:rPr lang="en-US" sz="1300" b="1" dirty="0">
                          <a:solidFill>
                            <a:schemeClr val="accent1"/>
                          </a:solidFill>
                        </a:rPr>
                        <a:t>11 h 35</a:t>
                      </a:r>
                      <a:endParaRPr lang="en-US" sz="13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Décisions, référents, éléments à remettre, prochaines étapes</a:t>
                      </a:r>
                      <a:endParaRPr lang="en-US" sz="13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2"/>
                          </a:solidFill>
                        </a:rPr>
                        <a:t>20 min</a:t>
                      </a:r>
                      <a:endParaRPr lang="en-US" sz="12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r>
              <a:tr h="365760">
                <a:tc>
                  <a:txBody>
                    <a:bodyPr/>
                    <a:lstStyle/>
                    <a:p>
                      <a:pPr algn="l" indent="0" marL="0">
                        <a:buNone/>
                      </a:pPr>
                      <a:r>
                        <a:rPr lang="en-US" sz="1300" b="1" dirty="0">
                          <a:solidFill>
                            <a:schemeClr val="accent1"/>
                          </a:solidFill>
                        </a:rPr>
                        <a:t>11 h 55</a:t>
                      </a:r>
                      <a:endParaRPr lang="en-US" sz="13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Clôture</a:t>
                      </a:r>
                      <a:endParaRPr lang="en-US" sz="13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2"/>
                          </a:solidFill>
                        </a:rPr>
                        <a:t>5 min</a:t>
                      </a:r>
                      <a:endParaRPr lang="en-US" sz="12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r>
            </a:tbl>
          </a:graphicData>
        </a:graphic>
      </p:graphicFrame>
      <p:pic>
        <p:nvPicPr>
          <p:cNvPr id="4" name="Image 0" descr="preencoded.png">    </p:cNvPr>
          <p:cNvPicPr>
            <a:picLocks noChangeAspect="1"/>
          </p:cNvPicPr>
          <p:nvPr/>
        </p:nvPicPr>
        <p:blipFill>
          <a:blip r:embed="rId1"/>
          <a:stretch>
            <a:fillRect/>
          </a:stretch>
        </p:blipFill>
        <p:spPr>
          <a:xfrm>
            <a:off x="457200" y="3931920"/>
            <a:ext cx="320040" cy="320040"/>
          </a:xfrm>
          <a:prstGeom prst="rect">
            <a:avLst/>
          </a:prstGeom>
        </p:spPr>
      </p:pic>
      <p:sp>
        <p:nvSpPr>
          <p:cNvPr id="5" name="Text 1"/>
          <p:cNvSpPr txBox="1"/>
          <p:nvPr/>
        </p:nvSpPr>
        <p:spPr>
          <a:xfrm>
            <a:off x="914400" y="3840480"/>
            <a:ext cx="7772400" cy="502920"/>
          </a:xfrm>
          <a:prstGeom prst="rect">
            <a:avLst/>
          </a:prstGeom>
          <a:noFill/>
          <a:ln/>
        </p:spPr>
        <p:txBody>
          <a:bodyPr wrap="square" lIns="0" tIns="0" rIns="0" bIns="0" rtlCol="0" anchor="ctr"/>
          <a:lstStyle/>
          <a:p>
            <a:pPr indent="0" marL="0">
              <a:buNone/>
            </a:pPr>
            <a:r>
              <a:rPr lang="en-US" sz="1250" dirty="0">
                <a:solidFill>
                  <a:schemeClr val="tx2"/>
                </a:solidFill>
              </a:rPr>
              <a:t>Ateliers métiers transport, BTP et immobilier : 30 minutes chacun avec le référent concerné, mercredi 14 ou jeudi 15 octobre, sur place ou à distance.</a:t>
            </a:r>
            <a:endParaRPr lang="en-US" sz="1250" dirty="0"/>
          </a:p>
        </p:txBody>
      </p:sp>
      <p:sp>
        <p:nvSpPr>
          <p:cNvPr id="25" name="Slide Number Placeholder 0"/>
          <p:cNvSpPr>
            <a:spLocks noGrp="1"/>
          </p:cNvSpPr>
          <p:nvPr>
            <p:ph type="sldNum" sz="quarter" idx="4294967295"/>
          </p:nvPr>
        </p:nvSpPr>
        <p:spPr>
          <a:xfrm>
            <a:off x="758952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indent="0" marL="0">
              <a:buNone/>
            </a:pPr>
            <a:r>
              <a:rPr lang="en-US" sz="2800" b="1" dirty="0">
                <a:solidFill>
                  <a:schemeClr val="tx1"/>
                </a:solidFill>
              </a:rPr>
              <a:t>Deux applications, un noyau invisible</a:t>
            </a:r>
            <a:endParaRPr lang="en-US" sz="2800" dirty="0"/>
          </a:p>
        </p:txBody>
      </p:sp>
      <p:sp>
        <p:nvSpPr>
          <p:cNvPr id="3" name="Shape 1"/>
          <p:cNvSpPr/>
          <p:nvPr/>
        </p:nvSpPr>
        <p:spPr>
          <a:xfrm>
            <a:off x="457200" y="1188720"/>
            <a:ext cx="5120640" cy="914400"/>
          </a:xfrm>
          <a:prstGeom prst="roundRect">
            <a:avLst>
              <a:gd name="adj" fmla="val 6000"/>
            </a:avLst>
          </a:prstGeom>
          <a:solidFill>
            <a:srgbClr val="1A9E9E"/>
          </a:solidFill>
          <a:ln w="12700">
            <a:solidFill>
              <a:srgbClr val="1A9E9E"/>
            </a:solidFill>
            <a:prstDash val="solid"/>
          </a:ln>
        </p:spPr>
      </p:sp>
      <p:sp>
        <p:nvSpPr>
          <p:cNvPr id="4" name="Text 2"/>
          <p:cNvSpPr txBox="1"/>
          <p:nvPr/>
        </p:nvSpPr>
        <p:spPr>
          <a:xfrm>
            <a:off x="640080" y="1188720"/>
            <a:ext cx="4754880" cy="914400"/>
          </a:xfrm>
          <a:prstGeom prst="rect">
            <a:avLst/>
          </a:prstGeom>
          <a:noFill/>
          <a:ln/>
        </p:spPr>
        <p:txBody>
          <a:bodyPr wrap="square" lIns="0" tIns="0" rIns="0" bIns="0" rtlCol="0" anchor="ctr"/>
          <a:lstStyle/>
          <a:p>
            <a:pPr indent="0" marL="0">
              <a:buNone/>
            </a:pPr>
            <a:r>
              <a:rPr lang="en-US" sz="1400" b="1" dirty="0">
                <a:solidFill>
                  <a:srgbClr val="FFFFFF"/>
                </a:solidFill>
              </a:rPr>
              <a:t>EGUITRA Finance et AxisPro Suite</a:t>
            </a:r>
            <a:endParaRPr lang="en-US" sz="1400" dirty="0"/>
          </a:p>
          <a:p>
            <a:pPr indent="0" marL="0">
              <a:buNone/>
            </a:pPr>
            <a:r>
              <a:rPr lang="en-US" sz="1100" dirty="0">
                <a:solidFill>
                  <a:srgbClr val="FFFFFF"/>
                </a:solidFill>
              </a:rPr>
              <a:t>Ce que vos équipes voient : vos écrans, votre charte, votre vocabulaire, le mobile et le portail</a:t>
            </a:r>
            <a:endParaRPr lang="en-US" sz="1400" dirty="0"/>
          </a:p>
        </p:txBody>
      </p:sp>
      <p:sp>
        <p:nvSpPr>
          <p:cNvPr id="5" name="Shape 3"/>
          <p:cNvSpPr/>
          <p:nvPr/>
        </p:nvSpPr>
        <p:spPr>
          <a:xfrm>
            <a:off x="457200" y="2194560"/>
            <a:ext cx="5120640" cy="685800"/>
          </a:xfrm>
          <a:prstGeom prst="roundRect">
            <a:avLst>
              <a:gd name="adj" fmla="val 8000"/>
            </a:avLst>
          </a:prstGeom>
          <a:solidFill>
            <a:srgbClr val="EEF3F6"/>
          </a:solidFill>
          <a:ln w="12700">
            <a:solidFill>
              <a:srgbClr val="EEF3F6"/>
            </a:solidFill>
            <a:prstDash val="solid"/>
          </a:ln>
        </p:spPr>
      </p:sp>
      <p:sp>
        <p:nvSpPr>
          <p:cNvPr id="6" name="Text 4"/>
          <p:cNvSpPr txBox="1"/>
          <p:nvPr/>
        </p:nvSpPr>
        <p:spPr>
          <a:xfrm>
            <a:off x="640080" y="2194560"/>
            <a:ext cx="4754880" cy="685800"/>
          </a:xfrm>
          <a:prstGeom prst="rect">
            <a:avLst/>
          </a:prstGeom>
          <a:noFill/>
          <a:ln/>
        </p:spPr>
        <p:txBody>
          <a:bodyPr wrap="square" lIns="0" tIns="0" rIns="0" bIns="0" rtlCol="0" anchor="ctr"/>
          <a:lstStyle/>
          <a:p>
            <a:pPr indent="0" marL="0">
              <a:buNone/>
            </a:pPr>
            <a:r>
              <a:rPr lang="en-US" sz="1400" b="1" dirty="0">
                <a:solidFill>
                  <a:srgbClr val="1C1E6B"/>
                </a:solidFill>
              </a:rPr>
              <a:t>API métier</a:t>
            </a:r>
            <a:endParaRPr lang="en-US" sz="1400" dirty="0"/>
          </a:p>
          <a:p>
            <a:pPr indent="0" marL="0">
              <a:buNone/>
            </a:pPr>
            <a:r>
              <a:rPr lang="en-US" sz="1100" dirty="0">
                <a:solidFill>
                  <a:srgbClr val="1C1E6B"/>
                </a:solidFill>
              </a:rPr>
              <a:t>Règles de gestion, droits, journalisation</a:t>
            </a:r>
            <a:endParaRPr lang="en-US" sz="1400" dirty="0"/>
          </a:p>
        </p:txBody>
      </p:sp>
      <p:sp>
        <p:nvSpPr>
          <p:cNvPr id="7" name="Shape 5"/>
          <p:cNvSpPr/>
          <p:nvPr/>
        </p:nvSpPr>
        <p:spPr>
          <a:xfrm>
            <a:off x="457200" y="2971800"/>
            <a:ext cx="5120640" cy="685800"/>
          </a:xfrm>
          <a:prstGeom prst="roundRect">
            <a:avLst>
              <a:gd name="adj" fmla="val 8000"/>
            </a:avLst>
          </a:prstGeom>
          <a:solidFill>
            <a:srgbClr val="EEF3F6"/>
          </a:solidFill>
          <a:ln w="12700">
            <a:solidFill>
              <a:srgbClr val="EEF3F6"/>
            </a:solidFill>
            <a:prstDash val="solid"/>
          </a:ln>
        </p:spPr>
      </p:sp>
      <p:sp>
        <p:nvSpPr>
          <p:cNvPr id="8" name="Text 6"/>
          <p:cNvSpPr txBox="1"/>
          <p:nvPr/>
        </p:nvSpPr>
        <p:spPr>
          <a:xfrm>
            <a:off x="640080" y="2971800"/>
            <a:ext cx="4754880" cy="685800"/>
          </a:xfrm>
          <a:prstGeom prst="rect">
            <a:avLst/>
          </a:prstGeom>
          <a:noFill/>
          <a:ln/>
        </p:spPr>
        <p:txBody>
          <a:bodyPr wrap="square" lIns="0" tIns="0" rIns="0" bIns="0" rtlCol="0" anchor="ctr"/>
          <a:lstStyle/>
          <a:p>
            <a:pPr indent="0" marL="0">
              <a:buNone/>
            </a:pPr>
            <a:r>
              <a:rPr lang="en-US" sz="1400" b="1" dirty="0">
                <a:solidFill>
                  <a:srgbClr val="1C1E6B"/>
                </a:solidFill>
              </a:rPr>
              <a:t>Noyau de gestion open source</a:t>
            </a:r>
            <a:endParaRPr lang="en-US" sz="1400" dirty="0"/>
          </a:p>
          <a:p>
            <a:pPr indent="0" marL="0">
              <a:buNone/>
            </a:pPr>
            <a:r>
              <a:rPr lang="en-US" sz="1100" dirty="0">
                <a:solidFill>
                  <a:srgbClr val="1C1E6B"/>
                </a:solidFill>
              </a:rPr>
              <a:t>Comptabilité, analytique, trésorerie, immobilisations, budget, workflows</a:t>
            </a:r>
            <a:endParaRPr lang="en-US" sz="1400" dirty="0"/>
          </a:p>
        </p:txBody>
      </p:sp>
      <p:sp>
        <p:nvSpPr>
          <p:cNvPr id="9" name="Shape 7"/>
          <p:cNvSpPr/>
          <p:nvPr/>
        </p:nvSpPr>
        <p:spPr>
          <a:xfrm>
            <a:off x="457200" y="3749040"/>
            <a:ext cx="5120640" cy="685800"/>
          </a:xfrm>
          <a:prstGeom prst="roundRect">
            <a:avLst>
              <a:gd name="adj" fmla="val 8000"/>
            </a:avLst>
          </a:prstGeom>
          <a:solidFill>
            <a:srgbClr val="1C1E6B"/>
          </a:solidFill>
          <a:ln w="12700">
            <a:solidFill>
              <a:srgbClr val="1C1E6B"/>
            </a:solidFill>
            <a:prstDash val="solid"/>
          </a:ln>
        </p:spPr>
      </p:sp>
      <p:sp>
        <p:nvSpPr>
          <p:cNvPr id="10" name="Text 8"/>
          <p:cNvSpPr txBox="1"/>
          <p:nvPr/>
        </p:nvSpPr>
        <p:spPr>
          <a:xfrm>
            <a:off x="640080" y="3749040"/>
            <a:ext cx="4754880" cy="685800"/>
          </a:xfrm>
          <a:prstGeom prst="rect">
            <a:avLst/>
          </a:prstGeom>
          <a:noFill/>
          <a:ln/>
        </p:spPr>
        <p:txBody>
          <a:bodyPr wrap="square" lIns="0" tIns="0" rIns="0" bIns="0" rtlCol="0" anchor="ctr"/>
          <a:lstStyle/>
          <a:p>
            <a:pPr indent="0" marL="0">
              <a:buNone/>
            </a:pPr>
            <a:r>
              <a:rPr lang="en-US" sz="1400" b="1" dirty="0">
                <a:solidFill>
                  <a:srgbClr val="FFFFFF"/>
                </a:solidFill>
              </a:rPr>
              <a:t>Serveur VPS dédié</a:t>
            </a:r>
            <a:endParaRPr lang="en-US" sz="1400" dirty="0"/>
          </a:p>
          <a:p>
            <a:pPr indent="0" marL="0">
              <a:buNone/>
            </a:pPr>
            <a:r>
              <a:rPr lang="en-US" sz="1100" dirty="0">
                <a:solidFill>
                  <a:srgbClr val="FFFFFF"/>
                </a:solidFill>
              </a:rPr>
              <a:t>Base de données, sauvegardes toutes les 15 minutes, supervision</a:t>
            </a:r>
            <a:endParaRPr lang="en-US" sz="1400" dirty="0"/>
          </a:p>
        </p:txBody>
      </p:sp>
      <p:sp>
        <p:nvSpPr>
          <p:cNvPr id="11" name="Text 9"/>
          <p:cNvSpPr txBox="1"/>
          <p:nvPr/>
        </p:nvSpPr>
        <p:spPr>
          <a:xfrm>
            <a:off x="5852160" y="1188720"/>
            <a:ext cx="2834640" cy="32004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Aucune licence, aucune limite d'utilisateurs.</a:t>
            </a:r>
            <a:endParaRPr lang="en-US" sz="1350" dirty="0"/>
          </a:p>
          <a:p>
            <a:pPr marL="342900" indent="-342900">
              <a:spcAft>
                <a:spcPts val="600"/>
              </a:spcAft>
              <a:buSzPct val="100000"/>
              <a:buChar char="•"/>
            </a:pPr>
            <a:r>
              <a:rPr lang="en-US" sz="1350" dirty="0">
                <a:solidFill>
                  <a:schemeClr val="tx2"/>
                </a:solidFill>
              </a:rPr>
              <a:t>Le noyau n'est jamais montré aux utilisateurs.</a:t>
            </a:r>
            <a:endParaRPr lang="en-US" sz="1350" dirty="0"/>
          </a:p>
          <a:p>
            <a:pPr marL="342900" indent="-342900">
              <a:spcAft>
                <a:spcPts val="600"/>
              </a:spcAft>
              <a:buSzPct val="100000"/>
              <a:buChar char="•"/>
            </a:pPr>
            <a:r>
              <a:rPr lang="en-US" sz="1350" dirty="0">
                <a:solidFill>
                  <a:schemeClr val="tx2"/>
                </a:solidFill>
              </a:rPr>
              <a:t>Vingt attentes du département Finance couvertes.</a:t>
            </a:r>
            <a:endParaRPr lang="en-US" sz="1350" dirty="0"/>
          </a:p>
          <a:p>
            <a:pPr marL="342900" indent="-342900">
              <a:spcAft>
                <a:spcPts val="600"/>
              </a:spcAft>
              <a:buSzPct val="100000"/>
              <a:buChar char="•"/>
            </a:pPr>
            <a:r>
              <a:rPr lang="en-US" sz="1350" dirty="0">
                <a:solidFill>
                  <a:schemeClr val="tx2"/>
                </a:solidFill>
              </a:rPr>
              <a:t>Garantie de 6 mois, première clôture annuelle comprise.</a:t>
            </a:r>
            <a:endParaRPr lang="en-US" sz="1350" dirty="0"/>
          </a:p>
        </p:txBody>
      </p:sp>
      <p:sp>
        <p:nvSpPr>
          <p:cNvPr id="25" name="Slide Number Placeholder 0"/>
          <p:cNvSpPr>
            <a:spLocks noGrp="1"/>
          </p:cNvSpPr>
          <p:nvPr>
            <p:ph type="sldNum" sz="quarter" idx="4294967295"/>
          </p:nvPr>
        </p:nvSpPr>
        <p:spPr>
          <a:xfrm>
            <a:off x="758952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indent="0" marL="0">
              <a:buNone/>
            </a:pPr>
            <a:r>
              <a:rPr lang="en-US" sz="2800" b="1" dirty="0">
                <a:solidFill>
                  <a:schemeClr val="tx1"/>
                </a:solidFill>
              </a:rPr>
              <a:t>Le périmètre de la version du 6 novembre</a:t>
            </a:r>
            <a:endParaRPr lang="en-US" sz="2800" dirty="0"/>
          </a:p>
        </p:txBody>
      </p:sp>
      <p:sp>
        <p:nvSpPr>
          <p:cNvPr id="3" name="card EGUITRA Finance"/>
          <p:cNvSpPr/>
          <p:nvPr/>
        </p:nvSpPr>
        <p:spPr>
          <a:xfrm>
            <a:off x="457200" y="1143000"/>
            <a:ext cx="4023360" cy="3383280"/>
          </a:xfrm>
          <a:prstGeom prst="roundRect">
            <a:avLst>
              <a:gd name="adj" fmla="val 2162"/>
            </a:avLst>
          </a:prstGeom>
          <a:solidFill>
            <a:schemeClr val="bg2"/>
          </a:solidFill>
          <a:ln w="12700">
            <a:solidFill>
              <a:schemeClr val="bg2"/>
            </a:solidFill>
            <a:prstDash val="solid"/>
          </a:ln>
        </p:spPr>
      </p:sp>
      <p:sp>
        <p:nvSpPr>
          <p:cNvPr id="4" name="Shape 2"/>
          <p:cNvSpPr/>
          <p:nvPr/>
        </p:nvSpPr>
        <p:spPr>
          <a:xfrm>
            <a:off x="640080" y="1325880"/>
            <a:ext cx="457200" cy="45720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754380" y="1440180"/>
            <a:ext cx="228600" cy="228600"/>
          </a:xfrm>
          <a:prstGeom prst="rect">
            <a:avLst/>
          </a:prstGeom>
        </p:spPr>
      </p:pic>
      <p:sp>
        <p:nvSpPr>
          <p:cNvPr id="6" name="Text 3"/>
          <p:cNvSpPr txBox="1"/>
          <p:nvPr/>
        </p:nvSpPr>
        <p:spPr>
          <a:xfrm>
            <a:off x="1234440" y="1307592"/>
            <a:ext cx="3063240" cy="502920"/>
          </a:xfrm>
          <a:prstGeom prst="rect">
            <a:avLst/>
          </a:prstGeom>
          <a:noFill/>
          <a:ln/>
        </p:spPr>
        <p:txBody>
          <a:bodyPr wrap="square" lIns="0" tIns="0" rIns="0" bIns="0" rtlCol="0" anchor="ctr"/>
          <a:lstStyle/>
          <a:p>
            <a:pPr indent="0" marL="0">
              <a:buNone/>
            </a:pPr>
            <a:r>
              <a:rPr lang="en-US" sz="1500" b="1" dirty="0">
                <a:solidFill>
                  <a:schemeClr val="tx1"/>
                </a:solidFill>
              </a:rPr>
              <a:t>EGUITRA Finance</a:t>
            </a:r>
            <a:endParaRPr lang="en-US" sz="1500" dirty="0"/>
          </a:p>
        </p:txBody>
      </p:sp>
      <p:sp>
        <p:nvSpPr>
          <p:cNvPr id="7" name="Text 4"/>
          <p:cNvSpPr txBox="1"/>
          <p:nvPr/>
        </p:nvSpPr>
        <p:spPr>
          <a:xfrm>
            <a:off x="640080" y="1920240"/>
            <a:ext cx="3657600" cy="2468880"/>
          </a:xfrm>
          <a:prstGeom prst="rect">
            <a:avLst/>
          </a:prstGeom>
          <a:noFill/>
          <a:ln/>
        </p:spPr>
        <p:txBody>
          <a:bodyPr wrap="square" lIns="0" tIns="0" rIns="0" bIns="0" rtlCol="0" anchor="t"/>
          <a:lstStyle/>
          <a:p>
            <a:pPr indent="0" marL="0">
              <a:buNone/>
            </a:pPr>
            <a:r>
              <a:rPr lang="en-US" sz="1250" dirty="0">
                <a:solidFill>
                  <a:schemeClr val="tx2"/>
                </a:solidFill>
              </a:rPr>
              <a:t>Tableau de bord dirigeant, pilotage par activité, ventes, achats, trésorerie et rapprochement, tiers, immobilisations, journaux et OD, balance et grand livre, budget, dette et DSCR, alertes, clôtures, contrôles, états SYSCOHADA, approbations, exports, paramètres.</a:t>
            </a:r>
            <a:endParaRPr lang="en-US" sz="1250" dirty="0"/>
          </a:p>
          <a:p>
            <a:pPr indent="0" marL="0">
              <a:buNone/>
            </a:pPr>
            <a:endParaRPr lang="en-US" sz="1250" dirty="0"/>
          </a:p>
          <a:p>
            <a:pPr indent="0" marL="0">
              <a:buNone/>
            </a:pPr>
            <a:r>
              <a:rPr lang="en-US" sz="1250" dirty="0">
                <a:solidFill>
                  <a:schemeClr val="tx2"/>
                </a:solidFill>
              </a:rPr>
              <a:t>Métiers : flotte, rotations, rentabilité par camion et par route, chantiers et retenues de garantie, biens et baux, déclarations fiscales, consolidation, passerelle IFRS.</a:t>
            </a:r>
            <a:endParaRPr lang="en-US" sz="1250" dirty="0"/>
          </a:p>
        </p:txBody>
      </p:sp>
      <p:sp>
        <p:nvSpPr>
          <p:cNvPr id="8" name="card AxisPro Suite"/>
          <p:cNvSpPr/>
          <p:nvPr/>
        </p:nvSpPr>
        <p:spPr>
          <a:xfrm>
            <a:off x="4663440" y="1143000"/>
            <a:ext cx="4023360" cy="3383280"/>
          </a:xfrm>
          <a:prstGeom prst="roundRect">
            <a:avLst>
              <a:gd name="adj" fmla="val 2162"/>
            </a:avLst>
          </a:prstGeom>
          <a:solidFill>
            <a:schemeClr val="bg2"/>
          </a:solidFill>
          <a:ln w="12700">
            <a:solidFill>
              <a:schemeClr val="bg2"/>
            </a:solidFill>
            <a:prstDash val="solid"/>
          </a:ln>
        </p:spPr>
      </p:sp>
      <p:sp>
        <p:nvSpPr>
          <p:cNvPr id="9" name="Shape 6"/>
          <p:cNvSpPr/>
          <p:nvPr/>
        </p:nvSpPr>
        <p:spPr>
          <a:xfrm>
            <a:off x="4846320" y="1325880"/>
            <a:ext cx="457200" cy="457200"/>
          </a:xfrm>
          <a:prstGeom prst="ellipse">
            <a:avLst/>
          </a:prstGeom>
          <a:solidFill>
            <a:schemeClr val="accent2"/>
          </a:solidFill>
          <a:ln w="12700">
            <a:solidFill>
              <a:schemeClr val="accent2"/>
            </a:solidFill>
            <a:prstDash val="solid"/>
          </a:ln>
        </p:spPr>
      </p:sp>
      <p:pic>
        <p:nvPicPr>
          <p:cNvPr id="10" name="Image 1" descr="preencoded.png">    </p:cNvPr>
          <p:cNvPicPr>
            <a:picLocks noChangeAspect="1"/>
          </p:cNvPicPr>
          <p:nvPr/>
        </p:nvPicPr>
        <p:blipFill>
          <a:blip r:embed="rId2"/>
          <a:stretch>
            <a:fillRect/>
          </a:stretch>
        </p:blipFill>
        <p:spPr>
          <a:xfrm>
            <a:off x="4960620" y="1440180"/>
            <a:ext cx="228600" cy="228600"/>
          </a:xfrm>
          <a:prstGeom prst="rect">
            <a:avLst/>
          </a:prstGeom>
        </p:spPr>
      </p:pic>
      <p:sp>
        <p:nvSpPr>
          <p:cNvPr id="11" name="Text 7"/>
          <p:cNvSpPr txBox="1"/>
          <p:nvPr/>
        </p:nvSpPr>
        <p:spPr>
          <a:xfrm>
            <a:off x="5440680" y="1307592"/>
            <a:ext cx="3063240" cy="502920"/>
          </a:xfrm>
          <a:prstGeom prst="rect">
            <a:avLst/>
          </a:prstGeom>
          <a:noFill/>
          <a:ln/>
        </p:spPr>
        <p:txBody>
          <a:bodyPr wrap="square" lIns="0" tIns="0" rIns="0" bIns="0" rtlCol="0" anchor="ctr"/>
          <a:lstStyle/>
          <a:p>
            <a:pPr indent="0" marL="0">
              <a:buNone/>
            </a:pPr>
            <a:r>
              <a:rPr lang="en-US" sz="1500" b="1" dirty="0">
                <a:solidFill>
                  <a:schemeClr val="tx1"/>
                </a:solidFill>
              </a:rPr>
              <a:t>AxisPro Suite</a:t>
            </a:r>
            <a:endParaRPr lang="en-US" sz="1500" dirty="0"/>
          </a:p>
        </p:txBody>
      </p:sp>
      <p:sp>
        <p:nvSpPr>
          <p:cNvPr id="12" name="Text 8"/>
          <p:cNvSpPr txBox="1"/>
          <p:nvPr/>
        </p:nvSpPr>
        <p:spPr>
          <a:xfrm>
            <a:off x="4846320" y="1920240"/>
            <a:ext cx="3657600" cy="2468880"/>
          </a:xfrm>
          <a:prstGeom prst="rect">
            <a:avLst/>
          </a:prstGeom>
          <a:noFill/>
          <a:ln/>
        </p:spPr>
        <p:txBody>
          <a:bodyPr wrap="square" lIns="0" tIns="0" rIns="0" bIns="0" rtlCol="0" anchor="t"/>
          <a:lstStyle/>
          <a:p>
            <a:pPr indent="0" marL="0">
              <a:buNone/>
            </a:pPr>
            <a:r>
              <a:rPr lang="en-US" sz="1250" dirty="0">
                <a:solidFill>
                  <a:schemeClr val="tx2"/>
                </a:solidFill>
              </a:rPr>
              <a:t>Portefeuille de dossiers, fiche projet, saisie guidée par gate, score et knock-outs, gaps prioritaires, data room, revues de comité, rapports comité et promoteur, politique d'évaluation, portail du porteur de projet.</a:t>
            </a:r>
            <a:endParaRPr lang="en-US" sz="1250" dirty="0"/>
          </a:p>
          <a:p>
            <a:pPr indent="0" marL="0">
              <a:buNone/>
            </a:pPr>
            <a:endParaRPr lang="en-US" sz="1250" dirty="0"/>
          </a:p>
          <a:p>
            <a:pPr indent="0" marL="0">
              <a:buNone/>
            </a:pPr>
            <a:r>
              <a:rPr lang="en-US" sz="1250" dirty="0">
                <a:solidFill>
                  <a:schemeClr val="tx2"/>
                </a:solidFill>
              </a:rPr>
              <a:t>Facturation et suivi des temps du cabinet dans le même outil.</a:t>
            </a:r>
            <a:endParaRPr lang="en-US" sz="1250" dirty="0"/>
          </a:p>
        </p:txBody>
      </p:sp>
      <p:sp>
        <p:nvSpPr>
          <p:cNvPr id="25" name="Slide Number Placeholder 0"/>
          <p:cNvSpPr>
            <a:spLocks noGrp="1"/>
          </p:cNvSpPr>
          <p:nvPr>
            <p:ph type="sldNum" sz="quarter" idx="4294967295"/>
          </p:nvPr>
        </p:nvSpPr>
        <p:spPr>
          <a:xfrm>
            <a:off x="758952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indent="0" marL="0">
              <a:buNone/>
            </a:pPr>
            <a:r>
              <a:rPr lang="en-US" sz="2800" b="1" dirty="0">
                <a:solidFill>
                  <a:schemeClr val="tx1"/>
                </a:solidFill>
              </a:rPr>
              <a:t>Quatre semaines, du 13 octobre au 6 novembre</a:t>
            </a:r>
            <a:endParaRPr lang="en-US" sz="2800" dirty="0"/>
          </a:p>
        </p:txBody>
      </p:sp>
      <p:sp>
        <p:nvSpPr>
          <p:cNvPr id="3" name="Shape 1"/>
          <p:cNvSpPr/>
          <p:nvPr/>
        </p:nvSpPr>
        <p:spPr>
          <a:xfrm>
            <a:off x="457200" y="1188720"/>
            <a:ext cx="1920240" cy="2286000"/>
          </a:xfrm>
          <a:prstGeom prst="roundRect">
            <a:avLst>
              <a:gd name="adj" fmla="val 3810"/>
            </a:avLst>
          </a:prstGeom>
          <a:solidFill>
            <a:srgbClr val="1A9E9E"/>
          </a:solidFill>
          <a:ln w="12700">
            <a:solidFill>
              <a:srgbClr val="1A9E9E"/>
            </a:solidFill>
            <a:prstDash val="solid"/>
          </a:ln>
        </p:spPr>
      </p:sp>
      <p:sp>
        <p:nvSpPr>
          <p:cNvPr id="4" name="Text 2"/>
          <p:cNvSpPr txBox="1"/>
          <p:nvPr/>
        </p:nvSpPr>
        <p:spPr>
          <a:xfrm>
            <a:off x="594360" y="1280160"/>
            <a:ext cx="1645920" cy="2103120"/>
          </a:xfrm>
          <a:prstGeom prst="rect">
            <a:avLst/>
          </a:prstGeom>
          <a:noFill/>
          <a:ln/>
        </p:spPr>
        <p:txBody>
          <a:bodyPr wrap="square" lIns="0" tIns="0" rIns="0" bIns="0" rtlCol="0" anchor="t"/>
          <a:lstStyle/>
          <a:p>
            <a:pPr indent="0" marL="0">
              <a:buNone/>
            </a:pPr>
            <a:r>
              <a:rPr lang="en-US" sz="1500" b="1" dirty="0">
                <a:solidFill>
                  <a:srgbClr val="FFFFFF"/>
                </a:solidFill>
              </a:rPr>
              <a:t>Semaine 1</a:t>
            </a:r>
            <a:endParaRPr lang="en-US" sz="1500" dirty="0"/>
          </a:p>
          <a:p>
            <a:pPr indent="0" marL="0">
              <a:buNone/>
            </a:pPr>
            <a:r>
              <a:rPr lang="en-US" sz="1100" dirty="0">
                <a:solidFill>
                  <a:srgbClr val="FFFFFF"/>
                </a:solidFill>
              </a:rPr>
              <a:t>13 au 16 oct.</a:t>
            </a:r>
            <a:endParaRPr lang="en-US" sz="1500" dirty="0"/>
          </a:p>
          <a:p>
            <a:pPr indent="0" marL="0">
              <a:buNone/>
            </a:pPr>
            <a:r>
              <a:rPr lang="en-US" sz="600" dirty="0">
                <a:solidFill>
                  <a:srgbClr val="000000"/>
                </a:solidFill>
              </a:rPr>
              <a:t> </a:t>
            </a:r>
            <a:endParaRPr lang="en-US" sz="1500" dirty="0"/>
          </a:p>
          <a:p>
            <a:pPr indent="0" marL="0">
              <a:buNone/>
            </a:pPr>
            <a:r>
              <a:rPr lang="en-US" sz="1250" b="1" dirty="0">
                <a:solidFill>
                  <a:srgbClr val="FFFFFF"/>
                </a:solidFill>
              </a:rPr>
              <a:t>Cadrage et socle</a:t>
            </a:r>
            <a:endParaRPr lang="en-US" sz="1500" dirty="0"/>
          </a:p>
          <a:p>
            <a:pPr indent="0" marL="0">
              <a:buNone/>
            </a:pPr>
            <a:r>
              <a:rPr lang="en-US" sz="1100" dirty="0">
                <a:solidFill>
                  <a:srgbClr val="FFFFFF"/>
                </a:solidFill>
              </a:rPr>
              <a:t>Ateliers, charte validée, serveur en ligne, comptes créés</a:t>
            </a:r>
            <a:endParaRPr lang="en-US" sz="1500" dirty="0"/>
          </a:p>
        </p:txBody>
      </p:sp>
      <p:sp>
        <p:nvSpPr>
          <p:cNvPr id="5" name="Shape 3"/>
          <p:cNvSpPr/>
          <p:nvPr/>
        </p:nvSpPr>
        <p:spPr>
          <a:xfrm>
            <a:off x="2560320" y="1188720"/>
            <a:ext cx="1920240" cy="2286000"/>
          </a:xfrm>
          <a:prstGeom prst="roundRect">
            <a:avLst>
              <a:gd name="adj" fmla="val 3810"/>
            </a:avLst>
          </a:prstGeom>
          <a:solidFill>
            <a:srgbClr val="EEF3F6"/>
          </a:solidFill>
          <a:ln w="12700">
            <a:solidFill>
              <a:srgbClr val="EEF3F6"/>
            </a:solidFill>
            <a:prstDash val="solid"/>
          </a:ln>
        </p:spPr>
      </p:sp>
      <p:sp>
        <p:nvSpPr>
          <p:cNvPr id="6" name="Text 4"/>
          <p:cNvSpPr txBox="1"/>
          <p:nvPr/>
        </p:nvSpPr>
        <p:spPr>
          <a:xfrm>
            <a:off x="2697480" y="1280160"/>
            <a:ext cx="1645920" cy="2103120"/>
          </a:xfrm>
          <a:prstGeom prst="rect">
            <a:avLst/>
          </a:prstGeom>
          <a:noFill/>
          <a:ln/>
        </p:spPr>
        <p:txBody>
          <a:bodyPr wrap="square" lIns="0" tIns="0" rIns="0" bIns="0" rtlCol="0" anchor="t"/>
          <a:lstStyle/>
          <a:p>
            <a:pPr indent="0" marL="0">
              <a:buNone/>
            </a:pPr>
            <a:r>
              <a:rPr lang="en-US" sz="1500" b="1" dirty="0">
                <a:solidFill>
                  <a:srgbClr val="1C1E6B"/>
                </a:solidFill>
              </a:rPr>
              <a:t>Semaine 2</a:t>
            </a:r>
            <a:endParaRPr lang="en-US" sz="1500" dirty="0"/>
          </a:p>
          <a:p>
            <a:pPr indent="0" marL="0">
              <a:buNone/>
            </a:pPr>
            <a:r>
              <a:rPr lang="en-US" sz="1100" dirty="0">
                <a:solidFill>
                  <a:srgbClr val="1C1E6B"/>
                </a:solidFill>
              </a:rPr>
              <a:t>19 au 23 oct.</a:t>
            </a:r>
            <a:endParaRPr lang="en-US" sz="1500" dirty="0"/>
          </a:p>
          <a:p>
            <a:pPr indent="0" marL="0">
              <a:buNone/>
            </a:pPr>
            <a:r>
              <a:rPr lang="en-US" sz="600" dirty="0">
                <a:solidFill>
                  <a:srgbClr val="000000"/>
                </a:solidFill>
              </a:rPr>
              <a:t> </a:t>
            </a:r>
            <a:endParaRPr lang="en-US" sz="1500" dirty="0"/>
          </a:p>
          <a:p>
            <a:pPr indent="0" marL="0">
              <a:buNone/>
            </a:pPr>
            <a:r>
              <a:rPr lang="en-US" sz="1250" b="1" dirty="0">
                <a:solidFill>
                  <a:srgbClr val="1C1E6B"/>
                </a:solidFill>
              </a:rPr>
              <a:t>Finance et AxisPro</a:t>
            </a:r>
            <a:endParaRPr lang="en-US" sz="1500" dirty="0"/>
          </a:p>
          <a:p>
            <a:pPr indent="0" marL="0">
              <a:buNone/>
            </a:pPr>
            <a:r>
              <a:rPr lang="en-US" sz="1100" dirty="0">
                <a:solidFill>
                  <a:srgbClr val="1C1E6B"/>
                </a:solidFill>
              </a:rPr>
              <a:t>Paramétrage, écrans finance, grille AxisPro, soldes d'ouverture</a:t>
            </a:r>
            <a:endParaRPr lang="en-US" sz="1500" dirty="0"/>
          </a:p>
        </p:txBody>
      </p:sp>
      <p:sp>
        <p:nvSpPr>
          <p:cNvPr id="7" name="Shape 5"/>
          <p:cNvSpPr/>
          <p:nvPr/>
        </p:nvSpPr>
        <p:spPr>
          <a:xfrm>
            <a:off x="4663440" y="1188720"/>
            <a:ext cx="1920240" cy="2286000"/>
          </a:xfrm>
          <a:prstGeom prst="roundRect">
            <a:avLst>
              <a:gd name="adj" fmla="val 3810"/>
            </a:avLst>
          </a:prstGeom>
          <a:solidFill>
            <a:srgbClr val="EEF3F6"/>
          </a:solidFill>
          <a:ln w="12700">
            <a:solidFill>
              <a:srgbClr val="EEF3F6"/>
            </a:solidFill>
            <a:prstDash val="solid"/>
          </a:ln>
        </p:spPr>
      </p:sp>
      <p:sp>
        <p:nvSpPr>
          <p:cNvPr id="8" name="Text 6"/>
          <p:cNvSpPr txBox="1"/>
          <p:nvPr/>
        </p:nvSpPr>
        <p:spPr>
          <a:xfrm>
            <a:off x="4800600" y="1280160"/>
            <a:ext cx="1645920" cy="2103120"/>
          </a:xfrm>
          <a:prstGeom prst="rect">
            <a:avLst/>
          </a:prstGeom>
          <a:noFill/>
          <a:ln/>
        </p:spPr>
        <p:txBody>
          <a:bodyPr wrap="square" lIns="0" tIns="0" rIns="0" bIns="0" rtlCol="0" anchor="t"/>
          <a:lstStyle/>
          <a:p>
            <a:pPr indent="0" marL="0">
              <a:buNone/>
            </a:pPr>
            <a:r>
              <a:rPr lang="en-US" sz="1500" b="1" dirty="0">
                <a:solidFill>
                  <a:srgbClr val="1C1E6B"/>
                </a:solidFill>
              </a:rPr>
              <a:t>Semaine 3</a:t>
            </a:r>
            <a:endParaRPr lang="en-US" sz="1500" dirty="0"/>
          </a:p>
          <a:p>
            <a:pPr indent="0" marL="0">
              <a:buNone/>
            </a:pPr>
            <a:r>
              <a:rPr lang="en-US" sz="1100" dirty="0">
                <a:solidFill>
                  <a:srgbClr val="1C1E6B"/>
                </a:solidFill>
              </a:rPr>
              <a:t>26 au 30 oct.</a:t>
            </a:r>
            <a:endParaRPr lang="en-US" sz="1500" dirty="0"/>
          </a:p>
          <a:p>
            <a:pPr indent="0" marL="0">
              <a:buNone/>
            </a:pPr>
            <a:r>
              <a:rPr lang="en-US" sz="600" dirty="0">
                <a:solidFill>
                  <a:srgbClr val="000000"/>
                </a:solidFill>
              </a:rPr>
              <a:t> </a:t>
            </a:r>
            <a:endParaRPr lang="en-US" sz="1500" dirty="0"/>
          </a:p>
          <a:p>
            <a:pPr indent="0" marL="0">
              <a:buNone/>
            </a:pPr>
            <a:r>
              <a:rPr lang="en-US" sz="1250" b="1" dirty="0">
                <a:solidFill>
                  <a:srgbClr val="1C1E6B"/>
                </a:solidFill>
              </a:rPr>
              <a:t>Métiers et portail</a:t>
            </a:r>
            <a:endParaRPr lang="en-US" sz="1500" dirty="0"/>
          </a:p>
          <a:p>
            <a:pPr indent="0" marL="0">
              <a:buNone/>
            </a:pPr>
            <a:r>
              <a:rPr lang="en-US" sz="1100" dirty="0">
                <a:solidFill>
                  <a:srgbClr val="1C1E6B"/>
                </a:solidFill>
              </a:rPr>
              <a:t>Transport, BTP, immobilier, fiscal, AxisPro, fin de reprise</a:t>
            </a:r>
            <a:endParaRPr lang="en-US" sz="1500" dirty="0"/>
          </a:p>
        </p:txBody>
      </p:sp>
      <p:sp>
        <p:nvSpPr>
          <p:cNvPr id="9" name="Shape 7"/>
          <p:cNvSpPr/>
          <p:nvPr/>
        </p:nvSpPr>
        <p:spPr>
          <a:xfrm>
            <a:off x="6766560" y="1188720"/>
            <a:ext cx="1920240" cy="2286000"/>
          </a:xfrm>
          <a:prstGeom prst="roundRect">
            <a:avLst>
              <a:gd name="adj" fmla="val 3810"/>
            </a:avLst>
          </a:prstGeom>
          <a:solidFill>
            <a:srgbClr val="EEF3F6"/>
          </a:solidFill>
          <a:ln w="12700">
            <a:solidFill>
              <a:srgbClr val="EEF3F6"/>
            </a:solidFill>
            <a:prstDash val="solid"/>
          </a:ln>
        </p:spPr>
      </p:sp>
      <p:sp>
        <p:nvSpPr>
          <p:cNvPr id="10" name="Text 8"/>
          <p:cNvSpPr txBox="1"/>
          <p:nvPr/>
        </p:nvSpPr>
        <p:spPr>
          <a:xfrm>
            <a:off x="6903720" y="1280160"/>
            <a:ext cx="1645920" cy="2103120"/>
          </a:xfrm>
          <a:prstGeom prst="rect">
            <a:avLst/>
          </a:prstGeom>
          <a:noFill/>
          <a:ln/>
        </p:spPr>
        <p:txBody>
          <a:bodyPr wrap="square" lIns="0" tIns="0" rIns="0" bIns="0" rtlCol="0" anchor="t"/>
          <a:lstStyle/>
          <a:p>
            <a:pPr indent="0" marL="0">
              <a:buNone/>
            </a:pPr>
            <a:r>
              <a:rPr lang="en-US" sz="1500" b="1" dirty="0">
                <a:solidFill>
                  <a:srgbClr val="1C1E6B"/>
                </a:solidFill>
              </a:rPr>
              <a:t>Semaine 4</a:t>
            </a:r>
            <a:endParaRPr lang="en-US" sz="1500" dirty="0"/>
          </a:p>
          <a:p>
            <a:pPr indent="0" marL="0">
              <a:buNone/>
            </a:pPr>
            <a:r>
              <a:rPr lang="en-US" sz="1100" dirty="0">
                <a:solidFill>
                  <a:srgbClr val="1C1E6B"/>
                </a:solidFill>
              </a:rPr>
              <a:t>2 au 6 nov.</a:t>
            </a:r>
            <a:endParaRPr lang="en-US" sz="1500" dirty="0"/>
          </a:p>
          <a:p>
            <a:pPr indent="0" marL="0">
              <a:buNone/>
            </a:pPr>
            <a:r>
              <a:rPr lang="en-US" sz="600" dirty="0">
                <a:solidFill>
                  <a:srgbClr val="000000"/>
                </a:solidFill>
              </a:rPr>
              <a:t> </a:t>
            </a:r>
            <a:endParaRPr lang="en-US" sz="1500" dirty="0"/>
          </a:p>
          <a:p>
            <a:pPr indent="0" marL="0">
              <a:buNone/>
            </a:pPr>
            <a:r>
              <a:rPr lang="en-US" sz="1250" b="1" dirty="0">
                <a:solidFill>
                  <a:srgbClr val="1C1E6B"/>
                </a:solidFill>
              </a:rPr>
              <a:t>Recette et mise en production</a:t>
            </a:r>
            <a:endParaRPr lang="en-US" sz="1500" dirty="0"/>
          </a:p>
          <a:p>
            <a:pPr indent="0" marL="0">
              <a:buNone/>
            </a:pPr>
            <a:r>
              <a:rPr lang="en-US" sz="1100" dirty="0">
                <a:solidFill>
                  <a:srgbClr val="1C1E6B"/>
                </a:solidFill>
              </a:rPr>
              <a:t>Recette sur vos données, formation, PV de mise en production</a:t>
            </a:r>
            <a:endParaRPr lang="en-US" sz="1500" dirty="0"/>
          </a:p>
        </p:txBody>
      </p:sp>
      <p:pic>
        <p:nvPicPr>
          <p:cNvPr id="11" name="Image 0" descr="preencoded.png">    </p:cNvPr>
          <p:cNvPicPr>
            <a:picLocks noChangeAspect="1"/>
          </p:cNvPicPr>
          <p:nvPr/>
        </p:nvPicPr>
        <p:blipFill>
          <a:blip r:embed="rId1"/>
          <a:stretch>
            <a:fillRect/>
          </a:stretch>
        </p:blipFill>
        <p:spPr>
          <a:xfrm>
            <a:off x="457200" y="3749040"/>
            <a:ext cx="320040" cy="320040"/>
          </a:xfrm>
          <a:prstGeom prst="rect">
            <a:avLst/>
          </a:prstGeom>
        </p:spPr>
      </p:pic>
      <p:sp>
        <p:nvSpPr>
          <p:cNvPr id="12" name="Text 9"/>
          <p:cNvSpPr txBox="1"/>
          <p:nvPr/>
        </p:nvSpPr>
        <p:spPr>
          <a:xfrm>
            <a:off x="914400" y="3657600"/>
            <a:ext cx="7772400" cy="548640"/>
          </a:xfrm>
          <a:prstGeom prst="rect">
            <a:avLst/>
          </a:prstGeom>
          <a:noFill/>
          <a:ln/>
        </p:spPr>
        <p:txBody>
          <a:bodyPr wrap="square" lIns="0" tIns="0" rIns="0" bIns="0" rtlCol="0" anchor="ctr"/>
          <a:lstStyle/>
          <a:p>
            <a:pPr indent="0" marL="0">
              <a:buNone/>
            </a:pPr>
            <a:r>
              <a:rPr lang="en-US" sz="1250" dirty="0">
                <a:solidFill>
                  <a:schemeClr val="tx2"/>
                </a:solidFill>
              </a:rPr>
              <a:t>Ensuite : quatre semaines d'accompagnement renforcé, puis garantie corrective de 6 mois couvrant la clôture annuelle. Pénalité de retard de 0,5 % par jour ouvré si le retard nous est imputable.</a:t>
            </a:r>
            <a:endParaRPr lang="en-US" sz="1250" dirty="0"/>
          </a:p>
        </p:txBody>
      </p:sp>
      <p:sp>
        <p:nvSpPr>
          <p:cNvPr id="25" name="Slide Number Placeholder 0"/>
          <p:cNvSpPr>
            <a:spLocks noGrp="1"/>
          </p:cNvSpPr>
          <p:nvPr>
            <p:ph type="sldNum" sz="quarter" idx="4294967295"/>
          </p:nvPr>
        </p:nvSpPr>
        <p:spPr>
          <a:xfrm>
            <a:off x="758952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indent="0" marL="0">
              <a:buNone/>
            </a:pPr>
            <a:r>
              <a:rPr lang="en-US" sz="2800" b="1" dirty="0">
                <a:solidFill>
                  <a:schemeClr val="tx1"/>
                </a:solidFill>
              </a:rPr>
              <a:t>Notre organisation sur quatre semaines</a:t>
            </a:r>
            <a:endParaRPr lang="en-US" sz="2800" dirty="0"/>
          </a:p>
        </p:txBody>
      </p:sp>
      <p:sp>
        <p:nvSpPr>
          <p:cNvPr id="3" name="card Côté EGUITRA et MB AxisPro"/>
          <p:cNvSpPr/>
          <p:nvPr/>
        </p:nvSpPr>
        <p:spPr>
          <a:xfrm>
            <a:off x="457200" y="1143000"/>
            <a:ext cx="4023360" cy="1874520"/>
          </a:xfrm>
          <a:prstGeom prst="roundRect">
            <a:avLst>
              <a:gd name="adj" fmla="val 3902"/>
            </a:avLst>
          </a:prstGeom>
          <a:solidFill>
            <a:schemeClr val="bg2"/>
          </a:solidFill>
          <a:ln w="12700">
            <a:solidFill>
              <a:schemeClr val="bg2"/>
            </a:solidFill>
            <a:prstDash val="solid"/>
          </a:ln>
        </p:spPr>
      </p:sp>
      <p:sp>
        <p:nvSpPr>
          <p:cNvPr id="4" name="Shape 2"/>
          <p:cNvSpPr/>
          <p:nvPr/>
        </p:nvSpPr>
        <p:spPr>
          <a:xfrm>
            <a:off x="640080" y="1325880"/>
            <a:ext cx="457200" cy="45720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754380" y="1440180"/>
            <a:ext cx="228600" cy="228600"/>
          </a:xfrm>
          <a:prstGeom prst="rect">
            <a:avLst/>
          </a:prstGeom>
        </p:spPr>
      </p:pic>
      <p:sp>
        <p:nvSpPr>
          <p:cNvPr id="6" name="Text 3"/>
          <p:cNvSpPr txBox="1"/>
          <p:nvPr/>
        </p:nvSpPr>
        <p:spPr>
          <a:xfrm>
            <a:off x="1234440" y="1307592"/>
            <a:ext cx="3063240" cy="502920"/>
          </a:xfrm>
          <a:prstGeom prst="rect">
            <a:avLst/>
          </a:prstGeom>
          <a:noFill/>
          <a:ln/>
        </p:spPr>
        <p:txBody>
          <a:bodyPr wrap="square" lIns="0" tIns="0" rIns="0" bIns="0" rtlCol="0" anchor="ctr"/>
          <a:lstStyle/>
          <a:p>
            <a:pPr indent="0" marL="0">
              <a:buNone/>
            </a:pPr>
            <a:r>
              <a:rPr lang="en-US" sz="1500" b="1" dirty="0">
                <a:solidFill>
                  <a:schemeClr val="tx1"/>
                </a:solidFill>
              </a:rPr>
              <a:t>Côté EGUITRA et MB AxisPro</a:t>
            </a:r>
            <a:endParaRPr lang="en-US" sz="1500" dirty="0"/>
          </a:p>
        </p:txBody>
      </p:sp>
      <p:sp>
        <p:nvSpPr>
          <p:cNvPr id="7" name="Text 4"/>
          <p:cNvSpPr txBox="1"/>
          <p:nvPr/>
        </p:nvSpPr>
        <p:spPr>
          <a:xfrm>
            <a:off x="640080" y="1920240"/>
            <a:ext cx="3657600" cy="960120"/>
          </a:xfrm>
          <a:prstGeom prst="rect">
            <a:avLst/>
          </a:prstGeom>
          <a:noFill/>
          <a:ln/>
        </p:spPr>
        <p:txBody>
          <a:bodyPr wrap="square" lIns="0" tIns="0" rIns="0" bIns="0" rtlCol="0" anchor="t"/>
          <a:lstStyle/>
          <a:p>
            <a:pPr indent="0" marL="0">
              <a:buNone/>
            </a:pPr>
            <a:r>
              <a:rPr lang="en-US" sz="1250" dirty="0">
                <a:solidFill>
                  <a:schemeClr val="tx2"/>
                </a:solidFill>
              </a:rPr>
              <a:t>Un référent par domaine : finance, transport, chantiers, immobilier, cabinet. Une demi-journée par jour, surtout en semaines 2 et 4. L'expert-comptable valide le plan de comptes en semaine 2.</a:t>
            </a:r>
            <a:endParaRPr lang="en-US" sz="1250" dirty="0"/>
          </a:p>
        </p:txBody>
      </p:sp>
      <p:sp>
        <p:nvSpPr>
          <p:cNvPr id="8" name="card Côté E-VOLUTION XP"/>
          <p:cNvSpPr/>
          <p:nvPr/>
        </p:nvSpPr>
        <p:spPr>
          <a:xfrm>
            <a:off x="4663440" y="1143000"/>
            <a:ext cx="4023360" cy="1874520"/>
          </a:xfrm>
          <a:prstGeom prst="roundRect">
            <a:avLst>
              <a:gd name="adj" fmla="val 3902"/>
            </a:avLst>
          </a:prstGeom>
          <a:solidFill>
            <a:schemeClr val="bg2"/>
          </a:solidFill>
          <a:ln w="12700">
            <a:solidFill>
              <a:schemeClr val="bg2"/>
            </a:solidFill>
            <a:prstDash val="solid"/>
          </a:ln>
        </p:spPr>
      </p:sp>
      <p:sp>
        <p:nvSpPr>
          <p:cNvPr id="9" name="Shape 6"/>
          <p:cNvSpPr/>
          <p:nvPr/>
        </p:nvSpPr>
        <p:spPr>
          <a:xfrm>
            <a:off x="4846320" y="1325880"/>
            <a:ext cx="457200" cy="457200"/>
          </a:xfrm>
          <a:prstGeom prst="ellipse">
            <a:avLst/>
          </a:prstGeom>
          <a:solidFill>
            <a:schemeClr val="accent2"/>
          </a:solidFill>
          <a:ln w="12700">
            <a:solidFill>
              <a:schemeClr val="accent2"/>
            </a:solidFill>
            <a:prstDash val="solid"/>
          </a:ln>
        </p:spPr>
      </p:sp>
      <p:pic>
        <p:nvPicPr>
          <p:cNvPr id="10" name="Image 1" descr="preencoded.png">    </p:cNvPr>
          <p:cNvPicPr>
            <a:picLocks noChangeAspect="1"/>
          </p:cNvPicPr>
          <p:nvPr/>
        </p:nvPicPr>
        <p:blipFill>
          <a:blip r:embed="rId2"/>
          <a:stretch>
            <a:fillRect/>
          </a:stretch>
        </p:blipFill>
        <p:spPr>
          <a:xfrm>
            <a:off x="4960620" y="1440180"/>
            <a:ext cx="228600" cy="228600"/>
          </a:xfrm>
          <a:prstGeom prst="rect">
            <a:avLst/>
          </a:prstGeom>
        </p:spPr>
      </p:pic>
      <p:sp>
        <p:nvSpPr>
          <p:cNvPr id="11" name="Text 7"/>
          <p:cNvSpPr txBox="1"/>
          <p:nvPr/>
        </p:nvSpPr>
        <p:spPr>
          <a:xfrm>
            <a:off x="5440680" y="1307592"/>
            <a:ext cx="3063240" cy="502920"/>
          </a:xfrm>
          <a:prstGeom prst="rect">
            <a:avLst/>
          </a:prstGeom>
          <a:noFill/>
          <a:ln/>
        </p:spPr>
        <p:txBody>
          <a:bodyPr wrap="square" lIns="0" tIns="0" rIns="0" bIns="0" rtlCol="0" anchor="ctr"/>
          <a:lstStyle/>
          <a:p>
            <a:pPr indent="0" marL="0">
              <a:buNone/>
            </a:pPr>
            <a:r>
              <a:rPr lang="en-US" sz="1500" b="1" dirty="0">
                <a:solidFill>
                  <a:schemeClr val="tx1"/>
                </a:solidFill>
              </a:rPr>
              <a:t>Côté E-VOLUTION XP</a:t>
            </a:r>
            <a:endParaRPr lang="en-US" sz="1500" dirty="0"/>
          </a:p>
        </p:txBody>
      </p:sp>
      <p:sp>
        <p:nvSpPr>
          <p:cNvPr id="12" name="Text 8"/>
          <p:cNvSpPr txBox="1"/>
          <p:nvPr/>
        </p:nvSpPr>
        <p:spPr>
          <a:xfrm>
            <a:off x="4846320" y="1920240"/>
            <a:ext cx="3657600" cy="960120"/>
          </a:xfrm>
          <a:prstGeom prst="rect">
            <a:avLst/>
          </a:prstGeom>
          <a:noFill/>
          <a:ln/>
        </p:spPr>
        <p:txBody>
          <a:bodyPr wrap="square" lIns="0" tIns="0" rIns="0" bIns="0" rtlCol="0" anchor="t"/>
          <a:lstStyle/>
          <a:p>
            <a:pPr indent="0" marL="0">
              <a:buNone/>
            </a:pPr>
            <a:r>
              <a:rPr lang="en-US" sz="1250" dirty="0">
                <a:solidFill>
                  <a:schemeClr val="tx2"/>
                </a:solidFill>
              </a:rPr>
              <a:t>Un directeur de projet, interlocuteur unique. Consultant finance, développeurs, ingénieur exploitation. Présents sur site aux ateliers et à la recette.</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3200400"/>
          <a:ext cx="8229600" cy="914400"/>
        </p:xfrm>
        <a:graphic>
          <a:graphicData uri="http://schemas.openxmlformats.org/drawingml/2006/table">
            <a:tbl>
              <a:tblPr/>
              <a:tblGrid>
                <a:gridCol w="1645920"/>
                <a:gridCol w="6583680"/>
              </a:tblGrid>
              <a:tr h="384048">
                <a:tc>
                  <a:txBody>
                    <a:bodyPr/>
                    <a:lstStyle/>
                    <a:p>
                      <a:pPr indent="0" marL="0">
                        <a:buNone/>
                      </a:pPr>
                      <a:r>
                        <a:rPr lang="en-US" sz="1300" b="1" dirty="0">
                          <a:solidFill>
                            <a:schemeClr val="accent1"/>
                          </a:solidFill>
                        </a:rPr>
                        <a:t>Chaque jour</a:t>
                      </a:r>
                      <a:endParaRPr lang="en-US" sz="13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Point de 15 minutes avec le référent du jour, à heure fixe</a:t>
                      </a:r>
                      <a:endParaRPr lang="en-US" sz="13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chemeClr val="accent1"/>
                          </a:solidFill>
                        </a:rPr>
                        <a:t>Chaque semaine</a:t>
                      </a:r>
                      <a:endParaRPr lang="en-US" sz="13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Comité de pilotage avec la direction et le responsable financier, compte rendu écrit</a:t>
                      </a:r>
                      <a:endParaRPr lang="en-US" sz="13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chemeClr val="accent1"/>
                          </a:solidFill>
                        </a:rPr>
                        <a:t>En continu</a:t>
                      </a:r>
                      <a:endParaRPr lang="en-US" sz="13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Espace partagé des demandes et des questions ouvertes, visible de tous</a:t>
                      </a:r>
                      <a:endParaRPr lang="en-US" sz="1300" dirty="0"/>
                    </a:p>
                  </a:txBody>
                  <a:tcPr marL="54864" marR="54864" marT="54864" marB="54864">
                    <a:lnL w="12700" cap="flat" cmpd="sng" algn="ctr">
                      <a:solidFill>
                        <a:srgbClr val="EEF3F6"/>
                      </a:solidFill>
                      <a:prstDash val="solid"/>
                      <a:round/>
                      <a:headEnd type="none" w="med" len="med"/>
                      <a:tailEnd type="none" w="med" len="med"/>
                    </a:lnL>
                    <a:lnR w="12700" cap="flat" cmpd="sng" algn="ctr">
                      <a:solidFill>
                        <a:srgbClr val="EEF3F6"/>
                      </a:solidFill>
                      <a:prstDash val="solid"/>
                      <a:round/>
                      <a:headEnd type="none" w="med" len="med"/>
                      <a:tailEnd type="none" w="med" len="med"/>
                    </a:lnR>
                    <a:lnT w="12700" cap="flat" cmpd="sng" algn="ctr">
                      <a:solidFill>
                        <a:srgbClr val="EEF3F6"/>
                      </a:solidFill>
                      <a:prstDash val="solid"/>
                      <a:round/>
                      <a:headEnd type="none" w="med" len="med"/>
                      <a:tailEnd type="none" w="med" len="med"/>
                    </a:lnT>
                    <a:lnB w="12700" cap="flat" cmpd="sng" algn="ctr">
                      <a:solidFill>
                        <a:srgbClr val="EEF3F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758952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indent="0" marL="0">
              <a:buNone/>
            </a:pPr>
            <a:r>
              <a:rPr lang="en-US" sz="2800" b="1" dirty="0">
                <a:solidFill>
                  <a:schemeClr val="tx1"/>
                </a:solidFill>
              </a:rPr>
              <a:t>Finance, 35 minutes</a:t>
            </a:r>
            <a:endParaRPr lang="en-US" sz="2800" dirty="0"/>
          </a:p>
        </p:txBody>
      </p:sp>
      <p:sp>
        <p:nvSpPr>
          <p:cNvPr id="3" name="Shape 1"/>
          <p:cNvSpPr/>
          <p:nvPr/>
        </p:nvSpPr>
        <p:spPr>
          <a:xfrm>
            <a:off x="457200" y="1188720"/>
            <a:ext cx="502920" cy="50292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582930" y="1314450"/>
            <a:ext cx="251460" cy="251460"/>
          </a:xfrm>
          <a:prstGeom prst="rect">
            <a:avLst/>
          </a:prstGeom>
        </p:spPr>
      </p:pic>
      <p:sp>
        <p:nvSpPr>
          <p:cNvPr id="5" name="Text 2"/>
          <p:cNvSpPr txBox="1"/>
          <p:nvPr/>
        </p:nvSpPr>
        <p:spPr>
          <a:xfrm>
            <a:off x="1097280" y="1188720"/>
            <a:ext cx="7315200" cy="502920"/>
          </a:xfrm>
          <a:prstGeom prst="rect">
            <a:avLst/>
          </a:prstGeom>
          <a:noFill/>
          <a:ln/>
        </p:spPr>
        <p:txBody>
          <a:bodyPr wrap="square" lIns="0" tIns="0" rIns="0" bIns="0" rtlCol="0" anchor="ctr"/>
          <a:lstStyle/>
          <a:p>
            <a:pPr indent="0" marL="0">
              <a:buNone/>
            </a:pPr>
            <a:r>
              <a:rPr lang="en-US" sz="1500" b="1" dirty="0">
                <a:solidFill>
                  <a:schemeClr val="tx1"/>
                </a:solidFill>
              </a:rPr>
              <a:t>Ce que nous devons trancher ensemble</a:t>
            </a:r>
            <a:endParaRPr lang="en-US" sz="1500" dirty="0"/>
          </a:p>
        </p:txBody>
      </p:sp>
      <p:sp>
        <p:nvSpPr>
          <p:cNvPr id="6" name="Text 3"/>
          <p:cNvSpPr txBox="1"/>
          <p:nvPr/>
        </p:nvSpPr>
        <p:spPr>
          <a:xfrm>
            <a:off x="457200" y="1828800"/>
            <a:ext cx="822960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Plan de comptes : votre plan actuel, les comptes par activité, les comptes de trésorerie et de passage.</a:t>
            </a:r>
            <a:endParaRPr lang="en-US" sz="1300" dirty="0"/>
          </a:p>
          <a:p>
            <a:pPr marL="342900" indent="-342900">
              <a:spcAft>
                <a:spcPts val="600"/>
              </a:spcAft>
              <a:buSzPct val="100000"/>
              <a:buChar char="•"/>
            </a:pPr>
            <a:r>
              <a:rPr lang="en-US" sz="1300" dirty="0">
                <a:solidFill>
                  <a:schemeClr val="tx2"/>
                </a:solidFill>
              </a:rPr>
              <a:t>Axes analytiques : activités, centres de coût, chantiers, véhicules, biens. Qui porte quoi.</a:t>
            </a:r>
            <a:endParaRPr lang="en-US" sz="1300" dirty="0"/>
          </a:p>
          <a:p>
            <a:pPr marL="342900" indent="-342900">
              <a:spcAft>
                <a:spcPts val="600"/>
              </a:spcAft>
              <a:buSzPct val="100000"/>
              <a:buChar char="•"/>
            </a:pPr>
            <a:r>
              <a:rPr lang="en-US" sz="1300" dirty="0">
                <a:solidFill>
                  <a:schemeClr val="tx2"/>
                </a:solidFill>
              </a:rPr>
              <a:t>Journaux et pièces : numérotation, justificatifs obligatoires, catégories de dépense.</a:t>
            </a:r>
            <a:endParaRPr lang="en-US" sz="1300" dirty="0"/>
          </a:p>
          <a:p>
            <a:pPr marL="342900" indent="-342900">
              <a:spcAft>
                <a:spcPts val="600"/>
              </a:spcAft>
              <a:buSzPct val="100000"/>
              <a:buChar char="•"/>
            </a:pPr>
            <a:r>
              <a:rPr lang="en-US" sz="1300" dirty="0">
                <a:solidFill>
                  <a:schemeClr val="tx2"/>
                </a:solidFill>
              </a:rPr>
              <a:t>Circuits d'approbation : qui valide un engagement, un paiement, à partir de quel montant.</a:t>
            </a:r>
            <a:endParaRPr lang="en-US" sz="1300" dirty="0"/>
          </a:p>
          <a:p>
            <a:pPr marL="342900" indent="-342900">
              <a:spcAft>
                <a:spcPts val="600"/>
              </a:spcAft>
              <a:buSzPct val="100000"/>
              <a:buChar char="•"/>
            </a:pPr>
            <a:r>
              <a:rPr lang="en-US" sz="1300" dirty="0">
                <a:solidFill>
                  <a:schemeClr val="tx2"/>
                </a:solidFill>
              </a:rPr>
              <a:t>Seuils d'alerte : trésorerie, marge transport, écart budgétaire, délai de recouvrement, DSCR.</a:t>
            </a:r>
            <a:endParaRPr lang="en-US" sz="1300" dirty="0"/>
          </a:p>
          <a:p>
            <a:pPr marL="342900" indent="-342900">
              <a:spcAft>
                <a:spcPts val="600"/>
              </a:spcAft>
              <a:buSzPct val="100000"/>
              <a:buChar char="•"/>
            </a:pPr>
            <a:r>
              <a:rPr lang="en-US" sz="1300" dirty="0">
                <a:solidFill>
                  <a:schemeClr val="tx2"/>
                </a:solidFill>
              </a:rPr>
              <a:t>Clôture mensuelle : qui la lance, qui peut rouvrir, quels contrôles bloquent.</a:t>
            </a:r>
            <a:endParaRPr lang="en-US" sz="1300" dirty="0"/>
          </a:p>
          <a:p>
            <a:pPr marL="342900" indent="-342900">
              <a:spcAft>
                <a:spcPts val="600"/>
              </a:spcAft>
              <a:buSzPct val="100000"/>
              <a:buChar char="•"/>
            </a:pPr>
            <a:r>
              <a:rPr lang="en-US" sz="1300" dirty="0">
                <a:solidFill>
                  <a:schemeClr val="tx2"/>
                </a:solidFill>
              </a:rPr>
              <a:t>États : bilan, compte de résultat, flux, rapport mensuel de gestion. Modèles actuels à remettre.</a:t>
            </a:r>
            <a:endParaRPr lang="en-US" sz="1300" dirty="0"/>
          </a:p>
          <a:p>
            <a:pPr marL="342900" indent="-342900">
              <a:spcAft>
                <a:spcPts val="600"/>
              </a:spcAft>
              <a:buSzPct val="100000"/>
              <a:buChar char="•"/>
            </a:pPr>
            <a:r>
              <a:rPr lang="en-US" sz="1300" dirty="0">
                <a:solidFill>
                  <a:schemeClr val="tx2"/>
                </a:solidFill>
              </a:rPr>
              <a:t>Devises : GNF, USD, EUR. Source et fréquence des taux.</a:t>
            </a:r>
            <a:endParaRPr lang="en-US" sz="1300" dirty="0"/>
          </a:p>
        </p:txBody>
      </p:sp>
      <p:sp>
        <p:nvSpPr>
          <p:cNvPr id="25" name="Slide Number Placeholder 0"/>
          <p:cNvSpPr>
            <a:spLocks noGrp="1"/>
          </p:cNvSpPr>
          <p:nvPr>
            <p:ph type="sldNum" sz="quarter" idx="4294967295"/>
          </p:nvPr>
        </p:nvSpPr>
        <p:spPr>
          <a:xfrm>
            <a:off x="758952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indent="0" marL="0">
              <a:buNone/>
            </a:pPr>
            <a:r>
              <a:rPr lang="en-US" sz="2800" b="1" dirty="0">
                <a:solidFill>
                  <a:schemeClr val="tx1"/>
                </a:solidFill>
              </a:rPr>
              <a:t>Ateliers métiers, 30 minutes chacun</a:t>
            </a:r>
            <a:endParaRPr lang="en-US" sz="2800" dirty="0"/>
          </a:p>
        </p:txBody>
      </p:sp>
      <p:sp>
        <p:nvSpPr>
          <p:cNvPr id="3" name="card Transport"/>
          <p:cNvSpPr/>
          <p:nvPr/>
        </p:nvSpPr>
        <p:spPr>
          <a:xfrm>
            <a:off x="457200" y="1143000"/>
            <a:ext cx="2651760" cy="3291840"/>
          </a:xfrm>
          <a:prstGeom prst="roundRect">
            <a:avLst>
              <a:gd name="adj" fmla="val 2759"/>
            </a:avLst>
          </a:prstGeom>
          <a:solidFill>
            <a:schemeClr val="bg2"/>
          </a:solidFill>
          <a:ln w="12700">
            <a:solidFill>
              <a:schemeClr val="bg2"/>
            </a:solidFill>
            <a:prstDash val="solid"/>
          </a:ln>
        </p:spPr>
      </p:sp>
      <p:sp>
        <p:nvSpPr>
          <p:cNvPr id="4" name="Shape 2"/>
          <p:cNvSpPr/>
          <p:nvPr/>
        </p:nvSpPr>
        <p:spPr>
          <a:xfrm>
            <a:off x="640080" y="1325880"/>
            <a:ext cx="457200" cy="45720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754380" y="1440180"/>
            <a:ext cx="228600" cy="228600"/>
          </a:xfrm>
          <a:prstGeom prst="rect">
            <a:avLst/>
          </a:prstGeom>
        </p:spPr>
      </p:pic>
      <p:sp>
        <p:nvSpPr>
          <p:cNvPr id="6" name="Text 3"/>
          <p:cNvSpPr txBox="1"/>
          <p:nvPr/>
        </p:nvSpPr>
        <p:spPr>
          <a:xfrm>
            <a:off x="1234440" y="1307592"/>
            <a:ext cx="1691640" cy="502920"/>
          </a:xfrm>
          <a:prstGeom prst="rect">
            <a:avLst/>
          </a:prstGeom>
          <a:noFill/>
          <a:ln/>
        </p:spPr>
        <p:txBody>
          <a:bodyPr wrap="square" lIns="0" tIns="0" rIns="0" bIns="0" rtlCol="0" anchor="ctr"/>
          <a:lstStyle/>
          <a:p>
            <a:pPr indent="0" marL="0">
              <a:buNone/>
            </a:pPr>
            <a:r>
              <a:rPr lang="en-US" sz="1500" b="1" dirty="0">
                <a:solidFill>
                  <a:schemeClr val="tx1"/>
                </a:solidFill>
              </a:rPr>
              <a:t>Transport</a:t>
            </a:r>
            <a:endParaRPr lang="en-US" sz="1500" dirty="0"/>
          </a:p>
        </p:txBody>
      </p:sp>
      <p:sp>
        <p:nvSpPr>
          <p:cNvPr id="7" name="Text 4"/>
          <p:cNvSpPr txBox="1"/>
          <p:nvPr/>
        </p:nvSpPr>
        <p:spPr>
          <a:xfrm>
            <a:off x="640080" y="1920240"/>
            <a:ext cx="2286000" cy="2377440"/>
          </a:xfrm>
          <a:prstGeom prst="rect">
            <a:avLst/>
          </a:prstGeom>
          <a:noFill/>
          <a:ln/>
        </p:spPr>
        <p:txBody>
          <a:bodyPr wrap="square" lIns="0" tIns="0" rIns="0" bIns="0" rtlCol="0" anchor="t"/>
          <a:lstStyle/>
          <a:p>
            <a:pPr indent="0" marL="0">
              <a:buNone/>
            </a:pPr>
            <a:r>
              <a:rPr lang="en-US" sz="1250" dirty="0">
                <a:solidFill>
                  <a:schemeClr val="tx2"/>
                </a:solidFill>
              </a:rPr>
              <a:t>Liste des camions et chauffeurs. Routes, tarifs, distances. Produits transportés. Coûts d'une rotation : carburant, péages, frais chauffeur, maintenance, taxes. Qui saisit, où, et avec quel réseau.</a:t>
            </a:r>
            <a:endParaRPr lang="en-US" sz="1250" dirty="0"/>
          </a:p>
        </p:txBody>
      </p:sp>
      <p:sp>
        <p:nvSpPr>
          <p:cNvPr id="8" name="card BTP"/>
          <p:cNvSpPr/>
          <p:nvPr/>
        </p:nvSpPr>
        <p:spPr>
          <a:xfrm>
            <a:off x="3246120" y="1143000"/>
            <a:ext cx="2651760" cy="3291840"/>
          </a:xfrm>
          <a:prstGeom prst="roundRect">
            <a:avLst>
              <a:gd name="adj" fmla="val 2759"/>
            </a:avLst>
          </a:prstGeom>
          <a:solidFill>
            <a:schemeClr val="bg2"/>
          </a:solidFill>
          <a:ln w="12700">
            <a:solidFill>
              <a:schemeClr val="bg2"/>
            </a:solidFill>
            <a:prstDash val="solid"/>
          </a:ln>
        </p:spPr>
      </p:sp>
      <p:sp>
        <p:nvSpPr>
          <p:cNvPr id="9" name="Shape 6"/>
          <p:cNvSpPr/>
          <p:nvPr/>
        </p:nvSpPr>
        <p:spPr>
          <a:xfrm>
            <a:off x="3429000" y="1325880"/>
            <a:ext cx="457200" cy="457200"/>
          </a:xfrm>
          <a:prstGeom prst="ellipse">
            <a:avLst/>
          </a:prstGeom>
          <a:solidFill>
            <a:schemeClr val="accent2"/>
          </a:solidFill>
          <a:ln w="12700">
            <a:solidFill>
              <a:schemeClr val="accent2"/>
            </a:solidFill>
            <a:prstDash val="solid"/>
          </a:ln>
        </p:spPr>
      </p:sp>
      <p:pic>
        <p:nvPicPr>
          <p:cNvPr id="10" name="Image 1" descr="preencoded.png">    </p:cNvPr>
          <p:cNvPicPr>
            <a:picLocks noChangeAspect="1"/>
          </p:cNvPicPr>
          <p:nvPr/>
        </p:nvPicPr>
        <p:blipFill>
          <a:blip r:embed="rId2"/>
          <a:stretch>
            <a:fillRect/>
          </a:stretch>
        </p:blipFill>
        <p:spPr>
          <a:xfrm>
            <a:off x="3543300" y="1440180"/>
            <a:ext cx="228600" cy="228600"/>
          </a:xfrm>
          <a:prstGeom prst="rect">
            <a:avLst/>
          </a:prstGeom>
        </p:spPr>
      </p:pic>
      <p:sp>
        <p:nvSpPr>
          <p:cNvPr id="11" name="Text 7"/>
          <p:cNvSpPr txBox="1"/>
          <p:nvPr/>
        </p:nvSpPr>
        <p:spPr>
          <a:xfrm>
            <a:off x="4023360" y="1307592"/>
            <a:ext cx="1691640" cy="502920"/>
          </a:xfrm>
          <a:prstGeom prst="rect">
            <a:avLst/>
          </a:prstGeom>
          <a:noFill/>
          <a:ln/>
        </p:spPr>
        <p:txBody>
          <a:bodyPr wrap="square" lIns="0" tIns="0" rIns="0" bIns="0" rtlCol="0" anchor="ctr"/>
          <a:lstStyle/>
          <a:p>
            <a:pPr indent="0" marL="0">
              <a:buNone/>
            </a:pPr>
            <a:r>
              <a:rPr lang="en-US" sz="1500" b="1" dirty="0">
                <a:solidFill>
                  <a:schemeClr val="tx1"/>
                </a:solidFill>
              </a:rPr>
              <a:t>BTP</a:t>
            </a:r>
            <a:endParaRPr lang="en-US" sz="1500" dirty="0"/>
          </a:p>
        </p:txBody>
      </p:sp>
      <p:sp>
        <p:nvSpPr>
          <p:cNvPr id="12" name="Text 8"/>
          <p:cNvSpPr txBox="1"/>
          <p:nvPr/>
        </p:nvSpPr>
        <p:spPr>
          <a:xfrm>
            <a:off x="3429000" y="1920240"/>
            <a:ext cx="2286000" cy="2377440"/>
          </a:xfrm>
          <a:prstGeom prst="rect">
            <a:avLst/>
          </a:prstGeom>
          <a:noFill/>
          <a:ln/>
        </p:spPr>
        <p:txBody>
          <a:bodyPr wrap="square" lIns="0" tIns="0" rIns="0" bIns="0" rtlCol="0" anchor="t"/>
          <a:lstStyle/>
          <a:p>
            <a:pPr indent="0" marL="0">
              <a:buNone/>
            </a:pPr>
            <a:r>
              <a:rPr lang="en-US" sz="1250" dirty="0">
                <a:solidFill>
                  <a:schemeClr val="tx2"/>
                </a:solidFill>
              </a:rPr>
              <a:t>Chantiers en cours. Mode de facturation : jalons ou situations mensuelles. Taux et durée de la retenue de garantie. Coûts suivis par chantier.</a:t>
            </a:r>
            <a:endParaRPr lang="en-US" sz="1250" dirty="0"/>
          </a:p>
        </p:txBody>
      </p:sp>
      <p:sp>
        <p:nvSpPr>
          <p:cNvPr id="13" name="card Immobilier"/>
          <p:cNvSpPr/>
          <p:nvPr/>
        </p:nvSpPr>
        <p:spPr>
          <a:xfrm>
            <a:off x="6035040" y="1143000"/>
            <a:ext cx="2651760" cy="3291840"/>
          </a:xfrm>
          <a:prstGeom prst="roundRect">
            <a:avLst>
              <a:gd name="adj" fmla="val 2759"/>
            </a:avLst>
          </a:prstGeom>
          <a:solidFill>
            <a:schemeClr val="bg2"/>
          </a:solidFill>
          <a:ln w="12700">
            <a:solidFill>
              <a:schemeClr val="bg2"/>
            </a:solidFill>
            <a:prstDash val="solid"/>
          </a:ln>
        </p:spPr>
      </p:sp>
      <p:sp>
        <p:nvSpPr>
          <p:cNvPr id="14" name="Shape 10"/>
          <p:cNvSpPr/>
          <p:nvPr/>
        </p:nvSpPr>
        <p:spPr>
          <a:xfrm>
            <a:off x="6217920" y="1325880"/>
            <a:ext cx="457200" cy="45720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6332220" y="1440180"/>
            <a:ext cx="228600" cy="228600"/>
          </a:xfrm>
          <a:prstGeom prst="rect">
            <a:avLst/>
          </a:prstGeom>
        </p:spPr>
      </p:pic>
      <p:sp>
        <p:nvSpPr>
          <p:cNvPr id="16" name="Text 11"/>
          <p:cNvSpPr txBox="1"/>
          <p:nvPr/>
        </p:nvSpPr>
        <p:spPr>
          <a:xfrm>
            <a:off x="6812280" y="1307592"/>
            <a:ext cx="1691640" cy="502920"/>
          </a:xfrm>
          <a:prstGeom prst="rect">
            <a:avLst/>
          </a:prstGeom>
          <a:noFill/>
          <a:ln/>
        </p:spPr>
        <p:txBody>
          <a:bodyPr wrap="square" lIns="0" tIns="0" rIns="0" bIns="0" rtlCol="0" anchor="ctr"/>
          <a:lstStyle/>
          <a:p>
            <a:pPr indent="0" marL="0">
              <a:buNone/>
            </a:pPr>
            <a:r>
              <a:rPr lang="en-US" sz="1500" b="1" dirty="0">
                <a:solidFill>
                  <a:schemeClr val="tx1"/>
                </a:solidFill>
              </a:rPr>
              <a:t>Immobilier</a:t>
            </a:r>
            <a:endParaRPr lang="en-US" sz="1500" dirty="0"/>
          </a:p>
        </p:txBody>
      </p:sp>
      <p:sp>
        <p:nvSpPr>
          <p:cNvPr id="17" name="Text 12"/>
          <p:cNvSpPr txBox="1"/>
          <p:nvPr/>
        </p:nvSpPr>
        <p:spPr>
          <a:xfrm>
            <a:off x="6217920" y="1920240"/>
            <a:ext cx="2286000" cy="2377440"/>
          </a:xfrm>
          <a:prstGeom prst="rect">
            <a:avLst/>
          </a:prstGeom>
          <a:noFill/>
          <a:ln/>
        </p:spPr>
        <p:txBody>
          <a:bodyPr wrap="square" lIns="0" tIns="0" rIns="0" bIns="0" rtlCol="0" anchor="t"/>
          <a:lstStyle/>
          <a:p>
            <a:pPr indent="0" marL="0">
              <a:buNone/>
            </a:pPr>
            <a:r>
              <a:rPr lang="en-US" sz="1250" dirty="0">
                <a:solidFill>
                  <a:schemeClr val="tx2"/>
                </a:solidFill>
              </a:rPr>
              <a:t>Liste des biens et des baux. Périodicité des loyers, charges, dépôts. Quittances actuelles. Valeur du patrimoine et méthode.</a:t>
            </a:r>
            <a:endParaRPr lang="en-US" sz="1250" dirty="0"/>
          </a:p>
        </p:txBody>
      </p:sp>
      <p:sp>
        <p:nvSpPr>
          <p:cNvPr id="25" name="Slide Number Placeholder 0"/>
          <p:cNvSpPr>
            <a:spLocks noGrp="1"/>
          </p:cNvSpPr>
          <p:nvPr>
            <p:ph type="sldNum" sz="quarter" idx="4294967295"/>
          </p:nvPr>
        </p:nvSpPr>
        <p:spPr>
          <a:xfrm>
            <a:off x="758952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indent="0" marL="0">
              <a:buNone/>
            </a:pPr>
            <a:r>
              <a:rPr lang="en-US" sz="2800" b="1" dirty="0">
                <a:solidFill>
                  <a:schemeClr val="tx1"/>
                </a:solidFill>
              </a:rPr>
              <a:t>AxisPro Suite, 15 minutes</a:t>
            </a:r>
            <a:endParaRPr lang="en-US" sz="2800" dirty="0"/>
          </a:p>
        </p:txBody>
      </p:sp>
      <p:sp>
        <p:nvSpPr>
          <p:cNvPr id="3" name="Shape 1"/>
          <p:cNvSpPr/>
          <p:nvPr/>
        </p:nvSpPr>
        <p:spPr>
          <a:xfrm>
            <a:off x="457200" y="1188720"/>
            <a:ext cx="502920" cy="502920"/>
          </a:xfrm>
          <a:prstGeom prst="ellipse">
            <a:avLst/>
          </a:prstGeom>
          <a:solidFill>
            <a:schemeClr val="accent2"/>
          </a:solidFill>
          <a:ln w="12700">
            <a:solidFill>
              <a:schemeClr val="accent2"/>
            </a:solidFill>
            <a:prstDash val="solid"/>
          </a:ln>
        </p:spPr>
      </p:sp>
      <p:pic>
        <p:nvPicPr>
          <p:cNvPr id="4" name="Image 0" descr="preencoded.png">    </p:cNvPr>
          <p:cNvPicPr>
            <a:picLocks noChangeAspect="1"/>
          </p:cNvPicPr>
          <p:nvPr/>
        </p:nvPicPr>
        <p:blipFill>
          <a:blip r:embed="rId1"/>
          <a:stretch>
            <a:fillRect/>
          </a:stretch>
        </p:blipFill>
        <p:spPr>
          <a:xfrm>
            <a:off x="582930" y="1314450"/>
            <a:ext cx="251460" cy="251460"/>
          </a:xfrm>
          <a:prstGeom prst="rect">
            <a:avLst/>
          </a:prstGeom>
        </p:spPr>
      </p:pic>
      <p:sp>
        <p:nvSpPr>
          <p:cNvPr id="5" name="Text 2"/>
          <p:cNvSpPr txBox="1"/>
          <p:nvPr/>
        </p:nvSpPr>
        <p:spPr>
          <a:xfrm>
            <a:off x="1097280" y="1188720"/>
            <a:ext cx="7315200" cy="502920"/>
          </a:xfrm>
          <a:prstGeom prst="rect">
            <a:avLst/>
          </a:prstGeom>
          <a:noFill/>
          <a:ln/>
        </p:spPr>
        <p:txBody>
          <a:bodyPr wrap="square" lIns="0" tIns="0" rIns="0" bIns="0" rtlCol="0" anchor="ctr"/>
          <a:lstStyle/>
          <a:p>
            <a:pPr indent="0" marL="0">
              <a:buNone/>
            </a:pPr>
            <a:r>
              <a:rPr lang="en-US" sz="1500" b="1" dirty="0">
                <a:solidFill>
                  <a:schemeClr val="tx1"/>
                </a:solidFill>
              </a:rPr>
              <a:t>Industrialiser la méthode du cabinet sans la figer</a:t>
            </a:r>
            <a:endParaRPr lang="en-US" sz="1500" dirty="0"/>
          </a:p>
        </p:txBody>
      </p:sp>
      <p:sp>
        <p:nvSpPr>
          <p:cNvPr id="6" name="Text 3"/>
          <p:cNvSpPr txBox="1"/>
          <p:nvPr/>
        </p:nvSpPr>
        <p:spPr>
          <a:xfrm>
            <a:off x="457200" y="1828800"/>
            <a:ext cx="822960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La grille : 111 critères, 15 domaines, pondérations, critères critiques et éliminatoires. Version de référence à remettre.</a:t>
            </a:r>
            <a:endParaRPr lang="en-US" sz="1300" dirty="0"/>
          </a:p>
          <a:p>
            <a:pPr marL="342900" indent="-342900">
              <a:spcAft>
                <a:spcPts val="600"/>
              </a:spcAft>
              <a:buSzPct val="100000"/>
              <a:buChar char="•"/>
            </a:pPr>
            <a:r>
              <a:rPr lang="en-US" sz="1300" dirty="0">
                <a:solidFill>
                  <a:schemeClr val="tx2"/>
                </a:solidFill>
              </a:rPr>
              <a:t>Les gates 0 à 7 : règles de passage, qui décide, qui verrouille.</a:t>
            </a:r>
            <a:endParaRPr lang="en-US" sz="1300" dirty="0"/>
          </a:p>
          <a:p>
            <a:pPr marL="342900" indent="-342900">
              <a:spcAft>
                <a:spcPts val="600"/>
              </a:spcAft>
              <a:buSzPct val="100000"/>
              <a:buChar char="•"/>
            </a:pPr>
            <a:r>
              <a:rPr lang="en-US" sz="1300" dirty="0">
                <a:solidFill>
                  <a:schemeClr val="tx2"/>
                </a:solidFill>
              </a:rPr>
              <a:t>La politique d'évaluation : réglages actuels, qui peut les modifier.</a:t>
            </a:r>
            <a:endParaRPr lang="en-US" sz="1300" dirty="0"/>
          </a:p>
          <a:p>
            <a:pPr marL="342900" indent="-342900">
              <a:spcAft>
                <a:spcPts val="600"/>
              </a:spcAft>
              <a:buSzPct val="100000"/>
              <a:buChar char="•"/>
            </a:pPr>
            <a:r>
              <a:rPr lang="en-US" sz="1300" dirty="0">
                <a:solidFill>
                  <a:schemeClr val="tx2"/>
                </a:solidFill>
              </a:rPr>
              <a:t>La data room : les 42 pièces standard, formats acceptés, qui dépose.</a:t>
            </a:r>
            <a:endParaRPr lang="en-US" sz="1300" dirty="0"/>
          </a:p>
          <a:p>
            <a:pPr marL="342900" indent="-342900">
              <a:spcAft>
                <a:spcPts val="600"/>
              </a:spcAft>
              <a:buSzPct val="100000"/>
              <a:buChar char="•"/>
            </a:pPr>
            <a:r>
              <a:rPr lang="en-US" sz="1300" dirty="0">
                <a:solidFill>
                  <a:schemeClr val="tx2"/>
                </a:solidFill>
              </a:rPr>
              <a:t>Les rapports : modèles comité et promoteur, logo et mentions du cabinet.</a:t>
            </a:r>
            <a:endParaRPr lang="en-US" sz="1300" dirty="0"/>
          </a:p>
          <a:p>
            <a:pPr marL="342900" indent="-342900">
              <a:spcAft>
                <a:spcPts val="600"/>
              </a:spcAft>
              <a:buSzPct val="100000"/>
              <a:buChar char="•"/>
            </a:pPr>
            <a:r>
              <a:rPr lang="en-US" sz="1300" dirty="0">
                <a:solidFill>
                  <a:schemeClr val="tx2"/>
                </a:solidFill>
              </a:rPr>
              <a:t>Le portail : ce qu'un porteur de projet voit, ce qu'il ne voit pas.</a:t>
            </a:r>
            <a:endParaRPr lang="en-US" sz="1300" dirty="0"/>
          </a:p>
          <a:p>
            <a:pPr marL="342900" indent="-342900">
              <a:spcAft>
                <a:spcPts val="600"/>
              </a:spcAft>
              <a:buSzPct val="100000"/>
              <a:buChar char="•"/>
            </a:pPr>
            <a:r>
              <a:rPr lang="en-US" sz="1300" dirty="0">
                <a:solidFill>
                  <a:schemeClr val="tx2"/>
                </a:solidFill>
              </a:rPr>
              <a:t>Dossiers en cours à reprendre, et leur stade.</a:t>
            </a:r>
            <a:endParaRPr lang="en-US" sz="1300" dirty="0"/>
          </a:p>
        </p:txBody>
      </p:sp>
      <p:sp>
        <p:nvSpPr>
          <p:cNvPr id="25" name="Slide Number Placeholder 0"/>
          <p:cNvSpPr>
            <a:spLocks noGrp="1"/>
          </p:cNvSpPr>
          <p:nvPr>
            <p:ph type="sldNum" sz="quarter" idx="4294967295"/>
          </p:nvPr>
        </p:nvSpPr>
        <p:spPr>
          <a:xfrm>
            <a:off x="758952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indent="0" marL="0">
              <a:buNone/>
            </a:pPr>
            <a:r>
              <a:rPr lang="en-US" sz="2800" b="1" dirty="0">
                <a:solidFill>
                  <a:schemeClr val="tx1"/>
                </a:solidFill>
              </a:rPr>
              <a:t>Technique, charte et accès, 15 minutes</a:t>
            </a:r>
            <a:endParaRPr lang="en-US" sz="2800" dirty="0"/>
          </a:p>
        </p:txBody>
      </p:sp>
      <p:sp>
        <p:nvSpPr>
          <p:cNvPr id="3" name="card Serveur et accès"/>
          <p:cNvSpPr/>
          <p:nvPr/>
        </p:nvSpPr>
        <p:spPr>
          <a:xfrm>
            <a:off x="457200" y="1143000"/>
            <a:ext cx="4023360" cy="1874520"/>
          </a:xfrm>
          <a:prstGeom prst="roundRect">
            <a:avLst>
              <a:gd name="adj" fmla="val 3902"/>
            </a:avLst>
          </a:prstGeom>
          <a:solidFill>
            <a:schemeClr val="bg2"/>
          </a:solidFill>
          <a:ln w="12700">
            <a:solidFill>
              <a:schemeClr val="bg2"/>
            </a:solidFill>
            <a:prstDash val="solid"/>
          </a:ln>
        </p:spPr>
      </p:sp>
      <p:sp>
        <p:nvSpPr>
          <p:cNvPr id="4" name="Shape 2"/>
          <p:cNvSpPr/>
          <p:nvPr/>
        </p:nvSpPr>
        <p:spPr>
          <a:xfrm>
            <a:off x="640080" y="1325880"/>
            <a:ext cx="457200" cy="45720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754380" y="1440180"/>
            <a:ext cx="228600" cy="228600"/>
          </a:xfrm>
          <a:prstGeom prst="rect">
            <a:avLst/>
          </a:prstGeom>
        </p:spPr>
      </p:pic>
      <p:sp>
        <p:nvSpPr>
          <p:cNvPr id="6" name="Text 3"/>
          <p:cNvSpPr txBox="1"/>
          <p:nvPr/>
        </p:nvSpPr>
        <p:spPr>
          <a:xfrm>
            <a:off x="1234440" y="1307592"/>
            <a:ext cx="3063240" cy="502920"/>
          </a:xfrm>
          <a:prstGeom prst="rect">
            <a:avLst/>
          </a:prstGeom>
          <a:noFill/>
          <a:ln/>
        </p:spPr>
        <p:txBody>
          <a:bodyPr wrap="square" lIns="0" tIns="0" rIns="0" bIns="0" rtlCol="0" anchor="ctr"/>
          <a:lstStyle/>
          <a:p>
            <a:pPr indent="0" marL="0">
              <a:buNone/>
            </a:pPr>
            <a:r>
              <a:rPr lang="en-US" sz="1500" b="1" dirty="0">
                <a:solidFill>
                  <a:schemeClr val="tx1"/>
                </a:solidFill>
              </a:rPr>
              <a:t>Serveur et accès</a:t>
            </a:r>
            <a:endParaRPr lang="en-US" sz="1500" dirty="0"/>
          </a:p>
        </p:txBody>
      </p:sp>
      <p:sp>
        <p:nvSpPr>
          <p:cNvPr id="7" name="Text 4"/>
          <p:cNvSpPr txBox="1"/>
          <p:nvPr/>
        </p:nvSpPr>
        <p:spPr>
          <a:xfrm>
            <a:off x="640080" y="1920240"/>
            <a:ext cx="3657600" cy="960120"/>
          </a:xfrm>
          <a:prstGeom prst="rect">
            <a:avLst/>
          </a:prstGeom>
          <a:noFill/>
          <a:ln/>
        </p:spPr>
        <p:txBody>
          <a:bodyPr wrap="square" lIns="0" tIns="0" rIns="0" bIns="0" rtlCol="0" anchor="t"/>
          <a:lstStyle/>
          <a:p>
            <a:pPr indent="0" marL="0">
              <a:buNone/>
            </a:pPr>
            <a:r>
              <a:rPr lang="en-US" sz="1250" dirty="0">
                <a:solidFill>
                  <a:schemeClr val="tx2"/>
                </a:solidFill>
              </a:rPr>
              <a:t>Nom de domaine : le vôtre ou le nôtre, offert. Liste des utilisateurs et profils. Adresses e-mail pour la double authentification. Qualité du réseau au parc et sur les chantiers.</a:t>
            </a:r>
            <a:endParaRPr lang="en-US" sz="1250" dirty="0"/>
          </a:p>
        </p:txBody>
      </p:sp>
      <p:sp>
        <p:nvSpPr>
          <p:cNvPr id="8" name="card Charte graphique"/>
          <p:cNvSpPr/>
          <p:nvPr/>
        </p:nvSpPr>
        <p:spPr>
          <a:xfrm>
            <a:off x="4663440" y="1143000"/>
            <a:ext cx="4023360" cy="1874520"/>
          </a:xfrm>
          <a:prstGeom prst="roundRect">
            <a:avLst>
              <a:gd name="adj" fmla="val 3902"/>
            </a:avLst>
          </a:prstGeom>
          <a:solidFill>
            <a:schemeClr val="bg2"/>
          </a:solidFill>
          <a:ln w="12700">
            <a:solidFill>
              <a:schemeClr val="bg2"/>
            </a:solidFill>
            <a:prstDash val="solid"/>
          </a:ln>
        </p:spPr>
      </p:sp>
      <p:sp>
        <p:nvSpPr>
          <p:cNvPr id="9" name="Shape 6"/>
          <p:cNvSpPr/>
          <p:nvPr/>
        </p:nvSpPr>
        <p:spPr>
          <a:xfrm>
            <a:off x="4846320" y="1325880"/>
            <a:ext cx="457200" cy="457200"/>
          </a:xfrm>
          <a:prstGeom prst="ellipse">
            <a:avLst/>
          </a:prstGeom>
          <a:solidFill>
            <a:schemeClr val="accent2"/>
          </a:solidFill>
          <a:ln w="12700">
            <a:solidFill>
              <a:schemeClr val="accent2"/>
            </a:solidFill>
            <a:prstDash val="solid"/>
          </a:ln>
        </p:spPr>
      </p:sp>
      <p:pic>
        <p:nvPicPr>
          <p:cNvPr id="10" name="Image 1" descr="preencoded.png">    </p:cNvPr>
          <p:cNvPicPr>
            <a:picLocks noChangeAspect="1"/>
          </p:cNvPicPr>
          <p:nvPr/>
        </p:nvPicPr>
        <p:blipFill>
          <a:blip r:embed="rId2"/>
          <a:stretch>
            <a:fillRect/>
          </a:stretch>
        </p:blipFill>
        <p:spPr>
          <a:xfrm>
            <a:off x="4960620" y="1440180"/>
            <a:ext cx="228600" cy="228600"/>
          </a:xfrm>
          <a:prstGeom prst="rect">
            <a:avLst/>
          </a:prstGeom>
        </p:spPr>
      </p:pic>
      <p:sp>
        <p:nvSpPr>
          <p:cNvPr id="11" name="Text 7"/>
          <p:cNvSpPr txBox="1"/>
          <p:nvPr/>
        </p:nvSpPr>
        <p:spPr>
          <a:xfrm>
            <a:off x="5440680" y="1307592"/>
            <a:ext cx="3063240" cy="502920"/>
          </a:xfrm>
          <a:prstGeom prst="rect">
            <a:avLst/>
          </a:prstGeom>
          <a:noFill/>
          <a:ln/>
        </p:spPr>
        <p:txBody>
          <a:bodyPr wrap="square" lIns="0" tIns="0" rIns="0" bIns="0" rtlCol="0" anchor="ctr"/>
          <a:lstStyle/>
          <a:p>
            <a:pPr indent="0" marL="0">
              <a:buNone/>
            </a:pPr>
            <a:r>
              <a:rPr lang="en-US" sz="1500" b="1" dirty="0">
                <a:solidFill>
                  <a:schemeClr val="tx1"/>
                </a:solidFill>
              </a:rPr>
              <a:t>Charte graphique</a:t>
            </a:r>
            <a:endParaRPr lang="en-US" sz="1500" dirty="0"/>
          </a:p>
        </p:txBody>
      </p:sp>
      <p:sp>
        <p:nvSpPr>
          <p:cNvPr id="12" name="Text 8"/>
          <p:cNvSpPr txBox="1"/>
          <p:nvPr/>
        </p:nvSpPr>
        <p:spPr>
          <a:xfrm>
            <a:off x="4846320" y="1920240"/>
            <a:ext cx="3657600" cy="960120"/>
          </a:xfrm>
          <a:prstGeom prst="rect">
            <a:avLst/>
          </a:prstGeom>
          <a:noFill/>
          <a:ln/>
        </p:spPr>
        <p:txBody>
          <a:bodyPr wrap="square" lIns="0" tIns="0" rIns="0" bIns="0" rtlCol="0" anchor="t"/>
          <a:lstStyle/>
          <a:p>
            <a:pPr indent="0" marL="0">
              <a:buNone/>
            </a:pPr>
            <a:r>
              <a:rPr lang="en-US" sz="1250" dirty="0">
                <a:solidFill>
                  <a:schemeClr val="tx2"/>
                </a:solidFill>
              </a:rPr>
              <a:t>Logos EGUITRA et MB AxisPro en haute définition, couleurs, polices. Sans charte formelle, nous la définissons ici en vingt minutes.</a:t>
            </a:r>
            <a:endParaRPr lang="en-US" sz="1250" dirty="0"/>
          </a:p>
        </p:txBody>
      </p:sp>
      <p:sp>
        <p:nvSpPr>
          <p:cNvPr id="13" name="card Données à reprendre"/>
          <p:cNvSpPr/>
          <p:nvPr/>
        </p:nvSpPr>
        <p:spPr>
          <a:xfrm>
            <a:off x="457200" y="3154680"/>
            <a:ext cx="8229600" cy="1371600"/>
          </a:xfrm>
          <a:prstGeom prst="roundRect">
            <a:avLst>
              <a:gd name="adj" fmla="val 5333"/>
            </a:avLst>
          </a:prstGeom>
          <a:solidFill>
            <a:schemeClr val="bg2"/>
          </a:solidFill>
          <a:ln w="12700">
            <a:solidFill>
              <a:schemeClr val="bg2"/>
            </a:solidFill>
            <a:prstDash val="solid"/>
          </a:ln>
        </p:spPr>
      </p:sp>
      <p:sp>
        <p:nvSpPr>
          <p:cNvPr id="14" name="Shape 10"/>
          <p:cNvSpPr/>
          <p:nvPr/>
        </p:nvSpPr>
        <p:spPr>
          <a:xfrm>
            <a:off x="640080" y="3337560"/>
            <a:ext cx="457200" cy="45720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754380" y="3451860"/>
            <a:ext cx="228600" cy="228600"/>
          </a:xfrm>
          <a:prstGeom prst="rect">
            <a:avLst/>
          </a:prstGeom>
        </p:spPr>
      </p:pic>
      <p:sp>
        <p:nvSpPr>
          <p:cNvPr id="16" name="Text 11"/>
          <p:cNvSpPr txBox="1"/>
          <p:nvPr/>
        </p:nvSpPr>
        <p:spPr>
          <a:xfrm>
            <a:off x="1234440" y="3319272"/>
            <a:ext cx="7269480" cy="502920"/>
          </a:xfrm>
          <a:prstGeom prst="rect">
            <a:avLst/>
          </a:prstGeom>
          <a:noFill/>
          <a:ln/>
        </p:spPr>
        <p:txBody>
          <a:bodyPr wrap="square" lIns="0" tIns="0" rIns="0" bIns="0" rtlCol="0" anchor="ctr"/>
          <a:lstStyle/>
          <a:p>
            <a:pPr indent="0" marL="0">
              <a:buNone/>
            </a:pPr>
            <a:r>
              <a:rPr lang="en-US" sz="1500" b="1" dirty="0">
                <a:solidFill>
                  <a:schemeClr val="tx1"/>
                </a:solidFill>
              </a:rPr>
              <a:t>Données à reprendre</a:t>
            </a:r>
            <a:endParaRPr lang="en-US" sz="1500" dirty="0"/>
          </a:p>
        </p:txBody>
      </p:sp>
      <p:sp>
        <p:nvSpPr>
          <p:cNvPr id="17" name="Text 12"/>
          <p:cNvSpPr txBox="1"/>
          <p:nvPr/>
        </p:nvSpPr>
        <p:spPr>
          <a:xfrm>
            <a:off x="640080" y="3931920"/>
            <a:ext cx="7863840" cy="457200"/>
          </a:xfrm>
          <a:prstGeom prst="rect">
            <a:avLst/>
          </a:prstGeom>
          <a:noFill/>
          <a:ln/>
        </p:spPr>
        <p:txBody>
          <a:bodyPr wrap="square" lIns="0" tIns="0" rIns="0" bIns="0" rtlCol="0" anchor="t"/>
          <a:lstStyle/>
          <a:p>
            <a:pPr indent="0" marL="0">
              <a:buNone/>
            </a:pPr>
            <a:r>
              <a:rPr lang="en-US" sz="1250" dirty="0">
                <a:solidFill>
                  <a:schemeClr val="tx2"/>
                </a:solidFill>
              </a:rPr>
              <a:t>Fichiers de gestion de l'exercice en cours, relevés bancaires électroniques de chaque banque, modèles de déclarations fiscales, coordonnées de l'expert-comptable.</a:t>
            </a:r>
            <a:endParaRPr lang="en-US" sz="1250" dirty="0"/>
          </a:p>
        </p:txBody>
      </p:sp>
      <p:sp>
        <p:nvSpPr>
          <p:cNvPr id="25" name="Slide Number Placeholder 0"/>
          <p:cNvSpPr>
            <a:spLocks noGrp="1"/>
          </p:cNvSpPr>
          <p:nvPr>
            <p:ph type="sldNum" sz="quarter" idx="4294967295"/>
          </p:nvPr>
        </p:nvSpPr>
        <p:spPr>
          <a:xfrm>
            <a:off x="758952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indent="0" marL="0">
              <a:buNone/>
            </a:pPr>
            <a:r>
              <a:rPr lang="en-US" sz="2800" b="1" dirty="0">
                <a:solidFill>
                  <a:schemeClr val="tx1"/>
                </a:solidFill>
              </a:rPr>
              <a:t>Les décisions à prendre avant midi</a:t>
            </a:r>
            <a:endParaRPr lang="en-US" sz="2800" dirty="0"/>
          </a:p>
        </p:txBody>
      </p:sp>
      <p:sp>
        <p:nvSpPr>
          <p:cNvPr id="3" name="Shape 1"/>
          <p:cNvSpPr/>
          <p:nvPr/>
        </p:nvSpPr>
        <p:spPr>
          <a:xfrm>
            <a:off x="457200" y="1298448"/>
            <a:ext cx="384048" cy="384048"/>
          </a:xfrm>
          <a:prstGeom prst="ellipse">
            <a:avLst/>
          </a:prstGeom>
          <a:solidFill>
            <a:srgbClr val="1A9E9E"/>
          </a:solidFill>
          <a:ln w="12700">
            <a:solidFill>
              <a:srgbClr val="1A9E9E"/>
            </a:solidFill>
            <a:prstDash val="solid"/>
          </a:ln>
        </p:spPr>
      </p:sp>
      <p:sp>
        <p:nvSpPr>
          <p:cNvPr id="4" name="Text 2"/>
          <p:cNvSpPr txBox="1"/>
          <p:nvPr/>
        </p:nvSpPr>
        <p:spPr>
          <a:xfrm>
            <a:off x="457200" y="1298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960120" y="1188720"/>
            <a:ext cx="3520440" cy="640080"/>
          </a:xfrm>
          <a:prstGeom prst="rect">
            <a:avLst/>
          </a:prstGeom>
          <a:noFill/>
          <a:ln/>
        </p:spPr>
        <p:txBody>
          <a:bodyPr wrap="square" lIns="0" tIns="0" rIns="0" bIns="0" rtlCol="0" anchor="ctr"/>
          <a:lstStyle/>
          <a:p>
            <a:pPr indent="0" marL="0">
              <a:buNone/>
            </a:pPr>
            <a:r>
              <a:rPr lang="en-US" sz="1250" dirty="0">
                <a:solidFill>
                  <a:schemeClr val="tx1"/>
                </a:solidFill>
              </a:rPr>
              <a:t>Les cinq référents sont nommés, avec leurs créneaux de disponibilité</a:t>
            </a:r>
            <a:endParaRPr lang="en-US" sz="1250" dirty="0"/>
          </a:p>
        </p:txBody>
      </p:sp>
      <p:sp>
        <p:nvSpPr>
          <p:cNvPr id="6" name="Shape 4"/>
          <p:cNvSpPr/>
          <p:nvPr/>
        </p:nvSpPr>
        <p:spPr>
          <a:xfrm>
            <a:off x="4663440" y="1298448"/>
            <a:ext cx="384048" cy="384048"/>
          </a:xfrm>
          <a:prstGeom prst="ellipse">
            <a:avLst/>
          </a:prstGeom>
          <a:solidFill>
            <a:srgbClr val="1A9E9E"/>
          </a:solidFill>
          <a:ln w="12700">
            <a:solidFill>
              <a:srgbClr val="1A9E9E"/>
            </a:solidFill>
            <a:prstDash val="solid"/>
          </a:ln>
        </p:spPr>
      </p:sp>
      <p:sp>
        <p:nvSpPr>
          <p:cNvPr id="7" name="Text 5"/>
          <p:cNvSpPr txBox="1"/>
          <p:nvPr/>
        </p:nvSpPr>
        <p:spPr>
          <a:xfrm>
            <a:off x="4663440" y="1298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5166360" y="1188720"/>
            <a:ext cx="3520440" cy="640080"/>
          </a:xfrm>
          <a:prstGeom prst="rect">
            <a:avLst/>
          </a:prstGeom>
          <a:noFill/>
          <a:ln/>
        </p:spPr>
        <p:txBody>
          <a:bodyPr wrap="square" lIns="0" tIns="0" rIns="0" bIns="0" rtlCol="0" anchor="ctr"/>
          <a:lstStyle/>
          <a:p>
            <a:pPr indent="0" marL="0">
              <a:buNone/>
            </a:pPr>
            <a:r>
              <a:rPr lang="en-US" sz="1250" dirty="0">
                <a:solidFill>
                  <a:schemeClr val="tx1"/>
                </a:solidFill>
              </a:rPr>
              <a:t>L'heure du point quotidien et le jour du comité hebdomadaire sont fixés</a:t>
            </a:r>
            <a:endParaRPr lang="en-US" sz="1250" dirty="0"/>
          </a:p>
        </p:txBody>
      </p:sp>
      <p:sp>
        <p:nvSpPr>
          <p:cNvPr id="9" name="Shape 7"/>
          <p:cNvSpPr/>
          <p:nvPr/>
        </p:nvSpPr>
        <p:spPr>
          <a:xfrm>
            <a:off x="457200" y="2121408"/>
            <a:ext cx="384048" cy="384048"/>
          </a:xfrm>
          <a:prstGeom prst="ellipse">
            <a:avLst/>
          </a:prstGeom>
          <a:solidFill>
            <a:srgbClr val="1A9E9E"/>
          </a:solidFill>
          <a:ln w="12700">
            <a:solidFill>
              <a:srgbClr val="1A9E9E"/>
            </a:solidFill>
            <a:prstDash val="solid"/>
          </a:ln>
        </p:spPr>
      </p:sp>
      <p:sp>
        <p:nvSpPr>
          <p:cNvPr id="10" name="Text 8"/>
          <p:cNvSpPr txBox="1"/>
          <p:nvPr/>
        </p:nvSpPr>
        <p:spPr>
          <a:xfrm>
            <a:off x="457200" y="21214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960120" y="2011680"/>
            <a:ext cx="3520440" cy="640080"/>
          </a:xfrm>
          <a:prstGeom prst="rect">
            <a:avLst/>
          </a:prstGeom>
          <a:noFill/>
          <a:ln/>
        </p:spPr>
        <p:txBody>
          <a:bodyPr wrap="square" lIns="0" tIns="0" rIns="0" bIns="0" rtlCol="0" anchor="ctr"/>
          <a:lstStyle/>
          <a:p>
            <a:pPr indent="0" marL="0">
              <a:buNone/>
            </a:pPr>
            <a:r>
              <a:rPr lang="en-US" sz="1250" dirty="0">
                <a:solidFill>
                  <a:schemeClr val="tx1"/>
                </a:solidFill>
              </a:rPr>
              <a:t>Le nom de domaine est choisi</a:t>
            </a:r>
            <a:endParaRPr lang="en-US" sz="1250" dirty="0"/>
          </a:p>
        </p:txBody>
      </p:sp>
      <p:sp>
        <p:nvSpPr>
          <p:cNvPr id="12" name="Shape 10"/>
          <p:cNvSpPr/>
          <p:nvPr/>
        </p:nvSpPr>
        <p:spPr>
          <a:xfrm>
            <a:off x="4663440" y="2121408"/>
            <a:ext cx="384048" cy="384048"/>
          </a:xfrm>
          <a:prstGeom prst="ellipse">
            <a:avLst/>
          </a:prstGeom>
          <a:solidFill>
            <a:srgbClr val="1A9E9E"/>
          </a:solidFill>
          <a:ln w="12700">
            <a:solidFill>
              <a:srgbClr val="1A9E9E"/>
            </a:solidFill>
            <a:prstDash val="solid"/>
          </a:ln>
        </p:spPr>
      </p:sp>
      <p:sp>
        <p:nvSpPr>
          <p:cNvPr id="13" name="Text 11"/>
          <p:cNvSpPr txBox="1"/>
          <p:nvPr/>
        </p:nvSpPr>
        <p:spPr>
          <a:xfrm>
            <a:off x="4663440" y="21214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5166360" y="2011680"/>
            <a:ext cx="3520440" cy="640080"/>
          </a:xfrm>
          <a:prstGeom prst="rect">
            <a:avLst/>
          </a:prstGeom>
          <a:noFill/>
          <a:ln/>
        </p:spPr>
        <p:txBody>
          <a:bodyPr wrap="square" lIns="0" tIns="0" rIns="0" bIns="0" rtlCol="0" anchor="ctr"/>
          <a:lstStyle/>
          <a:p>
            <a:pPr indent="0" marL="0">
              <a:buNone/>
            </a:pPr>
            <a:r>
              <a:rPr lang="en-US" sz="1250" dirty="0">
                <a:solidFill>
                  <a:schemeClr val="tx1"/>
                </a:solidFill>
              </a:rPr>
              <a:t>La charte graphique est validée ou l'atelier charte est daté</a:t>
            </a:r>
            <a:endParaRPr lang="en-US" sz="1250" dirty="0"/>
          </a:p>
        </p:txBody>
      </p:sp>
      <p:sp>
        <p:nvSpPr>
          <p:cNvPr id="15" name="Shape 13"/>
          <p:cNvSpPr/>
          <p:nvPr/>
        </p:nvSpPr>
        <p:spPr>
          <a:xfrm>
            <a:off x="457200" y="2944368"/>
            <a:ext cx="384048" cy="384048"/>
          </a:xfrm>
          <a:prstGeom prst="ellipse">
            <a:avLst/>
          </a:prstGeom>
          <a:solidFill>
            <a:srgbClr val="1A9E9E"/>
          </a:solidFill>
          <a:ln w="12700">
            <a:solidFill>
              <a:srgbClr val="1A9E9E"/>
            </a:solidFill>
            <a:prstDash val="solid"/>
          </a:ln>
        </p:spPr>
      </p:sp>
      <p:sp>
        <p:nvSpPr>
          <p:cNvPr id="16" name="Text 14"/>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960120" y="2834640"/>
            <a:ext cx="3520440" cy="640080"/>
          </a:xfrm>
          <a:prstGeom prst="rect">
            <a:avLst/>
          </a:prstGeom>
          <a:noFill/>
          <a:ln/>
        </p:spPr>
        <p:txBody>
          <a:bodyPr wrap="square" lIns="0" tIns="0" rIns="0" bIns="0" rtlCol="0" anchor="ctr"/>
          <a:lstStyle/>
          <a:p>
            <a:pPr indent="0" marL="0">
              <a:buNone/>
            </a:pPr>
            <a:r>
              <a:rPr lang="en-US" sz="1250" dirty="0">
                <a:solidFill>
                  <a:schemeClr val="tx1"/>
                </a:solidFill>
              </a:rPr>
              <a:t>Le plan de comptes de référence et les modèles d'états sont identifiés, avec une date de remise</a:t>
            </a:r>
            <a:endParaRPr lang="en-US" sz="1250" dirty="0"/>
          </a:p>
        </p:txBody>
      </p:sp>
      <p:sp>
        <p:nvSpPr>
          <p:cNvPr id="18" name="Shape 16"/>
          <p:cNvSpPr/>
          <p:nvPr/>
        </p:nvSpPr>
        <p:spPr>
          <a:xfrm>
            <a:off x="4663440" y="2944368"/>
            <a:ext cx="384048" cy="384048"/>
          </a:xfrm>
          <a:prstGeom prst="ellipse">
            <a:avLst/>
          </a:prstGeom>
          <a:solidFill>
            <a:srgbClr val="1A9E9E"/>
          </a:solidFill>
          <a:ln w="12700">
            <a:solidFill>
              <a:srgbClr val="1A9E9E"/>
            </a:solidFill>
            <a:prstDash val="solid"/>
          </a:ln>
        </p:spPr>
      </p:sp>
      <p:sp>
        <p:nvSpPr>
          <p:cNvPr id="19" name="Text 17"/>
          <p:cNvSpPr txBox="1"/>
          <p:nvPr/>
        </p:nvSpPr>
        <p:spPr>
          <a:xfrm>
            <a:off x="4663440" y="2944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5166360" y="2834640"/>
            <a:ext cx="3520440" cy="640080"/>
          </a:xfrm>
          <a:prstGeom prst="rect">
            <a:avLst/>
          </a:prstGeom>
          <a:noFill/>
          <a:ln/>
        </p:spPr>
        <p:txBody>
          <a:bodyPr wrap="square" lIns="0" tIns="0" rIns="0" bIns="0" rtlCol="0" anchor="ctr"/>
          <a:lstStyle/>
          <a:p>
            <a:pPr indent="0" marL="0">
              <a:buNone/>
            </a:pPr>
            <a:r>
              <a:rPr lang="en-US" sz="1250" dirty="0">
                <a:solidFill>
                  <a:schemeClr val="tx1"/>
                </a:solidFill>
              </a:rPr>
              <a:t>La liste des utilisateurs et de leurs profils est arrêtée</a:t>
            </a:r>
            <a:endParaRPr lang="en-US" sz="1250" dirty="0"/>
          </a:p>
        </p:txBody>
      </p:sp>
      <p:sp>
        <p:nvSpPr>
          <p:cNvPr id="21" name="Shape 19"/>
          <p:cNvSpPr/>
          <p:nvPr/>
        </p:nvSpPr>
        <p:spPr>
          <a:xfrm>
            <a:off x="457200" y="3767328"/>
            <a:ext cx="384048" cy="384048"/>
          </a:xfrm>
          <a:prstGeom prst="ellipse">
            <a:avLst/>
          </a:prstGeom>
          <a:solidFill>
            <a:srgbClr val="1A9E9E"/>
          </a:solidFill>
          <a:ln w="12700">
            <a:solidFill>
              <a:srgbClr val="1A9E9E"/>
            </a:solidFill>
            <a:prstDash val="solid"/>
          </a:ln>
        </p:spPr>
      </p:sp>
      <p:sp>
        <p:nvSpPr>
          <p:cNvPr id="22" name="Text 20"/>
          <p:cNvSpPr txBox="1"/>
          <p:nvPr/>
        </p:nvSpPr>
        <p:spPr>
          <a:xfrm>
            <a:off x="457200" y="3767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960120" y="3657600"/>
            <a:ext cx="3520440" cy="640080"/>
          </a:xfrm>
          <a:prstGeom prst="rect">
            <a:avLst/>
          </a:prstGeom>
          <a:noFill/>
          <a:ln/>
        </p:spPr>
        <p:txBody>
          <a:bodyPr wrap="square" lIns="0" tIns="0" rIns="0" bIns="0" rtlCol="0" anchor="ctr"/>
          <a:lstStyle/>
          <a:p>
            <a:pPr indent="0" marL="0">
              <a:buNone/>
            </a:pPr>
            <a:r>
              <a:rPr lang="en-US" sz="1250" dirty="0">
                <a:solidFill>
                  <a:schemeClr val="tx1"/>
                </a:solidFill>
              </a:rPr>
              <a:t>Les listes flotte, chantiers, biens et la grille AxisPro ont un propriétaire et une date</a:t>
            </a:r>
            <a:endParaRPr lang="en-US" sz="1250" dirty="0"/>
          </a:p>
        </p:txBody>
      </p:sp>
      <p:sp>
        <p:nvSpPr>
          <p:cNvPr id="24" name="Shape 22"/>
          <p:cNvSpPr/>
          <p:nvPr/>
        </p:nvSpPr>
        <p:spPr>
          <a:xfrm>
            <a:off x="4663440" y="3767328"/>
            <a:ext cx="384048" cy="384048"/>
          </a:xfrm>
          <a:prstGeom prst="ellipse">
            <a:avLst/>
          </a:prstGeom>
          <a:solidFill>
            <a:srgbClr val="1A9E9E"/>
          </a:solidFill>
          <a:ln w="12700">
            <a:solidFill>
              <a:srgbClr val="1A9E9E"/>
            </a:solidFill>
            <a:prstDash val="solid"/>
          </a:ln>
        </p:spPr>
      </p:sp>
      <p:sp>
        <p:nvSpPr>
          <p:cNvPr id="25" name="Text 23"/>
          <p:cNvSpPr txBox="1"/>
          <p:nvPr/>
        </p:nvSpPr>
        <p:spPr>
          <a:xfrm>
            <a:off x="4663440" y="3767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6" name="Text 24"/>
          <p:cNvSpPr txBox="1"/>
          <p:nvPr/>
        </p:nvSpPr>
        <p:spPr>
          <a:xfrm>
            <a:off x="5166360" y="3657600"/>
            <a:ext cx="3520440" cy="640080"/>
          </a:xfrm>
          <a:prstGeom prst="rect">
            <a:avLst/>
          </a:prstGeom>
          <a:noFill/>
          <a:ln/>
        </p:spPr>
        <p:txBody>
          <a:bodyPr wrap="square" lIns="0" tIns="0" rIns="0" bIns="0" rtlCol="0" anchor="ctr"/>
          <a:lstStyle/>
          <a:p>
            <a:pPr indent="0" marL="0">
              <a:buNone/>
            </a:pPr>
            <a:r>
              <a:rPr lang="en-US" sz="1250" dirty="0">
                <a:solidFill>
                  <a:schemeClr val="tx1"/>
                </a:solidFill>
              </a:rPr>
              <a:t>La date de validation du plan de comptes par l'expert-comptable est fixée en semaine 2</a:t>
            </a:r>
            <a:endParaRPr lang="en-US" sz="1250" dirty="0"/>
          </a:p>
        </p:txBody>
      </p:sp>
      <p:sp>
        <p:nvSpPr>
          <p:cNvPr id="25" name="Slide Number Placeholder 0"/>
          <p:cNvSpPr>
            <a:spLocks noGrp="1"/>
          </p:cNvSpPr>
          <p:nvPr>
            <p:ph type="sldNum" sz="quarter" idx="4294967295"/>
          </p:nvPr>
        </p:nvSpPr>
        <p:spPr>
          <a:xfrm>
            <a:off x="758952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indent="0" marL="0">
              <a:buNone/>
            </a:pPr>
            <a:r>
              <a:rPr lang="en-US" sz="2800" b="1" dirty="0">
                <a:solidFill>
                  <a:schemeClr val="tx1"/>
                </a:solidFill>
              </a:rPr>
              <a:t>À remettre avant le vendredi 16 octobre</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5669280"/>
                <a:gridCol w="2560320"/>
              </a:tblGrid>
              <a:tr h="329184">
                <a:tc>
                  <a:txBody>
                    <a:bodyPr/>
                    <a:lstStyle/>
                    <a:p>
                      <a:pPr indent="0" marL="0">
                        <a:buNone/>
                      </a:pPr>
                      <a:r>
                        <a:rPr lang="en-US" sz="1200" b="1" dirty="0">
                          <a:solidFill>
                            <a:srgbClr val="FFFFFF"/>
                          </a:solidFill>
                        </a:rPr>
                        <a:t>Élément</a:t>
                      </a:r>
                      <a:endParaRPr lang="en-US" sz="1200" dirty="0"/>
                    </a:p>
                  </a:txBody>
                  <a:tcPr marL="45720" marR="4572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C1E6B"/>
                    </a:solidFill>
                  </a:tcPr>
                </a:tc>
                <a:tc>
                  <a:txBody>
                    <a:bodyPr/>
                    <a:lstStyle/>
                    <a:p>
                      <a:pPr indent="0" marL="0">
                        <a:buNone/>
                      </a:pPr>
                      <a:r>
                        <a:rPr lang="en-US" sz="1200" b="1" dirty="0">
                          <a:solidFill>
                            <a:srgbClr val="FFFFFF"/>
                          </a:solidFill>
                        </a:rPr>
                        <a:t>Qui</a:t>
                      </a:r>
                      <a:endParaRPr lang="en-US" sz="1200" dirty="0"/>
                    </a:p>
                  </a:txBody>
                  <a:tcPr marL="45720" marR="4572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C1E6B"/>
                    </a:solidFill>
                  </a:tcPr>
                </a:tc>
              </a:tr>
              <a:tr h="329184">
                <a:tc>
                  <a:txBody>
                    <a:bodyPr/>
                    <a:lstStyle/>
                    <a:p>
                      <a:pPr indent="0" marL="0">
                        <a:buNone/>
                      </a:pPr>
                      <a:r>
                        <a:rPr lang="en-US" sz="1200" dirty="0">
                          <a:solidFill>
                            <a:schemeClr val="tx1"/>
                          </a:solidFill>
                        </a:rPr>
                        <a:t>Plan de comptes actuel et modèles d'états financiers</a:t>
                      </a:r>
                      <a:endParaRPr lang="en-US" sz="1200" dirty="0"/>
                    </a:p>
                  </a:txBody>
                  <a:tcPr marL="45720" marR="4572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chemeClr val="tx2"/>
                          </a:solidFill>
                        </a:rPr>
                        <a:t>Responsable financier</a:t>
                      </a:r>
                      <a:endParaRPr lang="en-US" sz="1200" dirty="0"/>
                    </a:p>
                  </a:txBody>
                  <a:tcPr marL="45720" marR="4572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29184">
                <a:tc>
                  <a:txBody>
                    <a:bodyPr/>
                    <a:lstStyle/>
                    <a:p>
                      <a:pPr indent="0" marL="0">
                        <a:buNone/>
                      </a:pPr>
                      <a:r>
                        <a:rPr lang="en-US" sz="1200" dirty="0">
                          <a:solidFill>
                            <a:schemeClr val="tx1"/>
                          </a:solidFill>
                        </a:rPr>
                        <a:t>Fichiers de gestion de l'exercice en cours</a:t>
                      </a:r>
                      <a:endParaRPr lang="en-US" sz="1200" dirty="0"/>
                    </a:p>
                  </a:txBody>
                  <a:tcPr marL="45720" marR="4572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00" dirty="0">
                          <a:solidFill>
                            <a:schemeClr val="tx2"/>
                          </a:solidFill>
                        </a:rPr>
                        <a:t>Responsable financier</a:t>
                      </a:r>
                      <a:endParaRPr lang="en-US" sz="1200" dirty="0"/>
                    </a:p>
                  </a:txBody>
                  <a:tcPr marL="45720" marR="4572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r>
              <a:tr h="329184">
                <a:tc>
                  <a:txBody>
                    <a:bodyPr/>
                    <a:lstStyle/>
                    <a:p>
                      <a:pPr indent="0" marL="0">
                        <a:buNone/>
                      </a:pPr>
                      <a:r>
                        <a:rPr lang="en-US" sz="1200" dirty="0">
                          <a:solidFill>
                            <a:schemeClr val="tx1"/>
                          </a:solidFill>
                        </a:rPr>
                        <a:t>Relevés bancaires électroniques, un par banque</a:t>
                      </a:r>
                      <a:endParaRPr lang="en-US" sz="1200" dirty="0"/>
                    </a:p>
                  </a:txBody>
                  <a:tcPr marL="45720" marR="4572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chemeClr val="tx2"/>
                          </a:solidFill>
                        </a:rPr>
                        <a:t>Responsable financier</a:t>
                      </a:r>
                      <a:endParaRPr lang="en-US" sz="1200" dirty="0"/>
                    </a:p>
                  </a:txBody>
                  <a:tcPr marL="45720" marR="4572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29184">
                <a:tc>
                  <a:txBody>
                    <a:bodyPr/>
                    <a:lstStyle/>
                    <a:p>
                      <a:pPr indent="0" marL="0">
                        <a:buNone/>
                      </a:pPr>
                      <a:r>
                        <a:rPr lang="en-US" sz="1200" dirty="0">
                          <a:solidFill>
                            <a:schemeClr val="tx1"/>
                          </a:solidFill>
                        </a:rPr>
                        <a:t>Modèles de déclarations fiscales en vigueur</a:t>
                      </a:r>
                      <a:endParaRPr lang="en-US" sz="1200" dirty="0"/>
                    </a:p>
                  </a:txBody>
                  <a:tcPr marL="45720" marR="4572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00" dirty="0">
                          <a:solidFill>
                            <a:schemeClr val="tx2"/>
                          </a:solidFill>
                        </a:rPr>
                        <a:t>Responsable financier</a:t>
                      </a:r>
                      <a:endParaRPr lang="en-US" sz="1200" dirty="0"/>
                    </a:p>
                  </a:txBody>
                  <a:tcPr marL="45720" marR="4572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r>
              <a:tr h="329184">
                <a:tc>
                  <a:txBody>
                    <a:bodyPr/>
                    <a:lstStyle/>
                    <a:p>
                      <a:pPr indent="0" marL="0">
                        <a:buNone/>
                      </a:pPr>
                      <a:r>
                        <a:rPr lang="en-US" sz="1200" dirty="0">
                          <a:solidFill>
                            <a:schemeClr val="tx1"/>
                          </a:solidFill>
                        </a:rPr>
                        <a:t>Listes flotte, chauffeurs, routes et tarifs</a:t>
                      </a:r>
                      <a:endParaRPr lang="en-US" sz="1200" dirty="0"/>
                    </a:p>
                  </a:txBody>
                  <a:tcPr marL="45720" marR="4572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chemeClr val="tx2"/>
                          </a:solidFill>
                        </a:rPr>
                        <a:t>Référent transport</a:t>
                      </a:r>
                      <a:endParaRPr lang="en-US" sz="1200" dirty="0"/>
                    </a:p>
                  </a:txBody>
                  <a:tcPr marL="45720" marR="4572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29184">
                <a:tc>
                  <a:txBody>
                    <a:bodyPr/>
                    <a:lstStyle/>
                    <a:p>
                      <a:pPr indent="0" marL="0">
                        <a:buNone/>
                      </a:pPr>
                      <a:r>
                        <a:rPr lang="en-US" sz="1200" dirty="0">
                          <a:solidFill>
                            <a:schemeClr val="tx1"/>
                          </a:solidFill>
                        </a:rPr>
                        <a:t>Liste des chantiers et contrats en cours</a:t>
                      </a:r>
                      <a:endParaRPr lang="en-US" sz="1200" dirty="0"/>
                    </a:p>
                  </a:txBody>
                  <a:tcPr marL="45720" marR="4572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00" dirty="0">
                          <a:solidFill>
                            <a:schemeClr val="tx2"/>
                          </a:solidFill>
                        </a:rPr>
                        <a:t>Référent chantiers</a:t>
                      </a:r>
                      <a:endParaRPr lang="en-US" sz="1200" dirty="0"/>
                    </a:p>
                  </a:txBody>
                  <a:tcPr marL="45720" marR="4572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r>
              <a:tr h="329184">
                <a:tc>
                  <a:txBody>
                    <a:bodyPr/>
                    <a:lstStyle/>
                    <a:p>
                      <a:pPr indent="0" marL="0">
                        <a:buNone/>
                      </a:pPr>
                      <a:r>
                        <a:rPr lang="en-US" sz="1200" dirty="0">
                          <a:solidFill>
                            <a:schemeClr val="tx1"/>
                          </a:solidFill>
                        </a:rPr>
                        <a:t>Liste des biens et des baux</a:t>
                      </a:r>
                      <a:endParaRPr lang="en-US" sz="1200" dirty="0"/>
                    </a:p>
                  </a:txBody>
                  <a:tcPr marL="45720" marR="4572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chemeClr val="tx2"/>
                          </a:solidFill>
                        </a:rPr>
                        <a:t>Référent immobilier</a:t>
                      </a:r>
                      <a:endParaRPr lang="en-US" sz="1200" dirty="0"/>
                    </a:p>
                  </a:txBody>
                  <a:tcPr marL="45720" marR="4572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29184">
                <a:tc>
                  <a:txBody>
                    <a:bodyPr/>
                    <a:lstStyle/>
                    <a:p>
                      <a:pPr indent="0" marL="0">
                        <a:buNone/>
                      </a:pPr>
                      <a:r>
                        <a:rPr lang="en-US" sz="1200" dirty="0">
                          <a:solidFill>
                            <a:schemeClr val="tx1"/>
                          </a:solidFill>
                        </a:rPr>
                        <a:t>Grille AxisPro de référence et dossiers en cours</a:t>
                      </a:r>
                      <a:endParaRPr lang="en-US" sz="1200" dirty="0"/>
                    </a:p>
                  </a:txBody>
                  <a:tcPr marL="45720" marR="4572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00" dirty="0">
                          <a:solidFill>
                            <a:schemeClr val="tx2"/>
                          </a:solidFill>
                        </a:rPr>
                        <a:t>Référent cabinet</a:t>
                      </a:r>
                      <a:endParaRPr lang="en-US" sz="1200" dirty="0"/>
                    </a:p>
                  </a:txBody>
                  <a:tcPr marL="45720" marR="4572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r>
              <a:tr h="329184">
                <a:tc>
                  <a:txBody>
                    <a:bodyPr/>
                    <a:lstStyle/>
                    <a:p>
                      <a:pPr indent="0" marL="0">
                        <a:buNone/>
                      </a:pPr>
                      <a:r>
                        <a:rPr lang="en-US" sz="1200" dirty="0">
                          <a:solidFill>
                            <a:schemeClr val="tx1"/>
                          </a:solidFill>
                        </a:rPr>
                        <a:t>Logos, charte, liste des utilisateurs et profils</a:t>
                      </a:r>
                      <a:endParaRPr lang="en-US" sz="1200" dirty="0"/>
                    </a:p>
                  </a:txBody>
                  <a:tcPr marL="45720" marR="4572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chemeClr val="tx2"/>
                          </a:solidFill>
                        </a:rPr>
                        <a:t>Direction générale</a:t>
                      </a:r>
                      <a:endParaRPr lang="en-US" sz="1200" dirty="0"/>
                    </a:p>
                  </a:txBody>
                  <a:tcPr marL="45720" marR="4572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758952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05840"/>
          </a:xfrm>
          <a:prstGeom prst="rect">
            <a:avLst/>
          </a:prstGeom>
          <a:noFill/>
          <a:ln/>
        </p:spPr>
        <p:txBody>
          <a:bodyPr wrap="square" lIns="0" tIns="0" rIns="0" bIns="0" rtlCol="0"/>
          <a:lstStyle/>
          <a:p>
            <a:pPr indent="0" marL="0">
              <a:buNone/>
            </a:pPr>
            <a:r>
              <a:rPr lang="en-US" sz="4000" b="1" dirty="0">
                <a:solidFill>
                  <a:schemeClr val="bg1"/>
                </a:solidFill>
              </a:rPr>
              <a:t>Et dès demain</a:t>
            </a:r>
            <a:endParaRPr lang="en-US" sz="4000" dirty="0"/>
          </a:p>
        </p:txBody>
      </p:sp>
      <p:sp>
        <p:nvSpPr>
          <p:cNvPr id="3" name="Text 0"/>
          <p:cNvSpPr/>
          <p:nvPr>
            <p:ph idx="101" type="body" hasCustomPrompt="1"/>
          </p:nvPr>
        </p:nvSpPr>
        <p:spPr>
          <a:xfrm>
            <a:off x="548640" y="2880360"/>
            <a:ext cx="8046720" cy="1508760"/>
          </a:xfrm>
          <a:prstGeom prst="rect">
            <a:avLst/>
          </a:prstGeom>
          <a:noFill/>
          <a:ln/>
        </p:spPr>
        <p:txBody>
          <a:bodyPr wrap="square" lIns="0" tIns="0" rIns="0" bIns="0" rtlCol="0"/>
          <a:lstStyle/>
          <a:p>
            <a:pPr indent="0" marL="0">
              <a:buNone/>
            </a:pPr>
            <a:r>
              <a:rPr lang="en-US" sz="1800" dirty="0">
                <a:solidFill>
                  <a:schemeClr val="accent4"/>
                </a:solidFill>
              </a:rPr>
              <a:t>Compte rendu et liste des décisions sous 24 heures.</a:t>
            </a:r>
            <a:endParaRPr lang="en-US" sz="1800" dirty="0"/>
          </a:p>
          <a:p>
            <a:pPr indent="0" marL="0">
              <a:buNone/>
            </a:pPr>
            <a:r>
              <a:rPr lang="en-US" sz="1800" dirty="0">
                <a:solidFill>
                  <a:schemeClr val="accent4"/>
                </a:solidFill>
              </a:rPr>
              <a:t>Serveur en ligne et premiers comptes créés cette semaine.</a:t>
            </a:r>
            <a:endParaRPr lang="en-US" sz="1800" dirty="0"/>
          </a:p>
          <a:p>
            <a:pPr indent="0" marL="0">
              <a:buNone/>
            </a:pPr>
            <a:r>
              <a:rPr lang="en-US" sz="1800" dirty="0">
                <a:solidFill>
                  <a:schemeClr val="accent4"/>
                </a:solidFill>
              </a:rPr>
              <a:t>Dossier de conception à signer vendredi 16 octobre.</a:t>
            </a:r>
            <a:endParaRPr lang="en-US" sz="1800" dirty="0"/>
          </a:p>
          <a:p>
            <a:pPr indent="0" marL="0">
              <a:buNone/>
            </a:pPr>
            <a:r>
              <a:rPr lang="en-US" sz="1800" dirty="0">
                <a:solidFill>
                  <a:schemeClr val="accent4"/>
                </a:solidFill>
              </a:rPr>
              <a:t>Semaine 2 démarre lundi 19 octobre avec l'atelier plan de comptes.</a:t>
            </a:r>
            <a:endParaRPr lang="en-US" sz="1800" dirty="0"/>
          </a:p>
        </p:txBody>
      </p:sp>
      <p:sp>
        <p:nvSpPr>
          <p:cNvPr id="4" name="Text 2"/>
          <p:cNvSpPr txBox="1"/>
          <p:nvPr/>
        </p:nvSpPr>
        <p:spPr>
          <a:xfrm>
            <a:off x="548640" y="4480560"/>
            <a:ext cx="7315200" cy="274320"/>
          </a:xfrm>
          <a:prstGeom prst="rect">
            <a:avLst/>
          </a:prstGeom>
          <a:noFill/>
          <a:ln/>
        </p:spPr>
        <p:txBody>
          <a:bodyPr wrap="square" lIns="0" tIns="0" rIns="0" bIns="0" rtlCol="0" anchor="ctr"/>
          <a:lstStyle/>
          <a:p>
            <a:pPr indent="0" marL="0">
              <a:buNone/>
            </a:pPr>
            <a:r>
              <a:rPr lang="en-US" sz="1100" dirty="0">
                <a:solidFill>
                  <a:schemeClr val="accent1"/>
                </a:solidFill>
              </a:rPr>
              <a:t>+224 628 86 22 55 / emkouyate@e-volutionxp.com</a:t>
            </a:r>
            <a:endParaRPr lang="en-US" sz="1100" dirty="0"/>
          </a:p>
        </p:txBody>
      </p:sp>
    </p:spTree>
  </p:cSld>
  <p:clrMapOvr>
    <a:masterClrMapping/>
  </p:clrMapOvr>
</p:sld>
</file>

<file path=ppt/theme/theme1.xml><?xml version="1.0" encoding="utf-8"?>
<a:theme xmlns:a="http://schemas.openxmlformats.org/drawingml/2006/main" name="E-VOLUTION XP">
  <a:themeElements>
    <a:clrScheme name="E-VOLUTION XP">
      <a:dk1>
        <a:srgbClr val="1C1E6B"/>
      </a:dk1>
      <a:lt1>
        <a:srgbClr val="FFFFFF"/>
      </a:lt1>
      <a:dk2>
        <a:srgbClr val="0F1140"/>
      </a:dk2>
      <a:lt2>
        <a:srgbClr val="EEF3F6"/>
      </a:lt2>
      <a:accent1>
        <a:srgbClr val="1A9E9E"/>
      </a:accent1>
      <a:accent2>
        <a:srgbClr val="1C1E6B"/>
      </a:accent2>
      <a:accent3>
        <a:srgbClr val="E0A83C"/>
      </a:accent3>
      <a:accent4>
        <a:srgbClr val="8FA2C0"/>
      </a:accent4>
      <a:accent5>
        <a:srgbClr val="33A98C"/>
      </a:accent5>
      <a:accent6>
        <a:srgbClr val="F2777A"/>
      </a:accent6>
      <a:hlink>
        <a:srgbClr val="1A9E9E"/>
      </a:hlink>
      <a:folHlink>
        <a:srgbClr val="1A9E9E"/>
      </a:folHlink>
    </a:clrScheme>
    <a:fontScheme name="E-VOLUTION X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E-VOLUTION XP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Réunion de cadrage EGUITRA</dc:title>
  <dc:subject>PptxGenJS Presentation</dc:subject>
  <dc:creator>E-VOLUTION XP</dc:creator>
  <cp:lastModifiedBy>E-VOLUTION XP</cp:lastModifiedBy>
  <cp:revision>1</cp:revision>
  <dcterms:created xsi:type="dcterms:W3CDTF">2026-10-09T13:43:55Z</dcterms:created>
  <dcterms:modified xsi:type="dcterms:W3CDTF">2026-10-09T13:43:55Z</dcterms:modified>
</cp:coreProperties>
</file>